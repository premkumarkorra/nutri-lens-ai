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1430000" cy="6858000"/>
  <p:notesSz cx="6858000" cy="9144000"/>
  <p:embeddedFontLst>
    <p:embeddedFont>
      <p:font typeface="Aptos Bold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loud" panose="020B0604020202020204" charset="0"/>
      <p:regular r:id="rId21"/>
    </p:embeddedFont>
    <p:embeddedFont>
      <p:font typeface="Cloud Bold" panose="020B0604020202020204" charset="0"/>
      <p:regular r:id="rId22"/>
    </p:embeddedFont>
    <p:embeddedFont>
      <p:font typeface="League Spartan" panose="020B0604020202020204" charset="0"/>
      <p:regular r:id="rId23"/>
    </p:embeddedFont>
    <p:embeddedFont>
      <p:font typeface="Roboto" panose="02000000000000000000" pitchFamily="2" charset="0"/>
      <p:regular r:id="rId24"/>
    </p:embeddedFont>
    <p:embeddedFont>
      <p:font typeface="Roboto Bold" panose="020B0604020202020204" charset="0"/>
      <p:regular r:id="rId25"/>
    </p:embeddedFont>
    <p:embeddedFont>
      <p:font typeface="Times New Roman Bold" panose="02020803070505020304" pitchFamily="18" charset="0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22" autoAdjust="0"/>
  </p:normalViewPr>
  <p:slideViewPr>
    <p:cSldViewPr>
      <p:cViewPr varScale="1">
        <p:scale>
          <a:sx n="74" d="100"/>
          <a:sy n="74" d="100"/>
        </p:scale>
        <p:origin x="12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33638" y="512763"/>
            <a:ext cx="42767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Add Caption : Expect More</a:t>
            </a:r>
          </a:p>
          <a:p>
            <a:r>
              <a:rPr lang="en-US"/>
              <a:t>1</a:t>
            </a:r>
          </a:p>
          <a:p>
            <a:r>
              <a:rPr lang="en-US"/>
              <a:t>8/25/2026</a:t>
            </a:r>
          </a:p>
          <a:p>
            <a:r>
              <a:rPr lang="en-US"/>
              <a:t>archana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3.sv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0002" y="1397470"/>
            <a:ext cx="11339998" cy="448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100F0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NUTRI</a:t>
            </a:r>
            <a:r>
              <a:rPr lang="en-US" sz="3999">
                <a:solidFill>
                  <a:srgbClr val="FF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LENS AI</a:t>
            </a:r>
          </a:p>
          <a:p>
            <a:pPr algn="ctr">
              <a:lnSpc>
                <a:spcPts val="3359"/>
              </a:lnSpc>
            </a:pPr>
            <a:r>
              <a:rPr lang="en-US" sz="2799" b="1" spc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</a:t>
            </a:r>
          </a:p>
          <a:p>
            <a:pPr algn="ctr">
              <a:lnSpc>
                <a:spcPts val="2400"/>
              </a:lnSpc>
            </a:pPr>
            <a:r>
              <a:rPr lang="en-US" sz="2000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 PREM KUMAR </a:t>
            </a:r>
            <a:r>
              <a:rPr lang="en-US" sz="2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[24BK1A66BM]</a:t>
            </a:r>
          </a:p>
          <a:p>
            <a:pPr algn="ctr">
              <a:lnSpc>
                <a:spcPts val="2400"/>
              </a:lnSpc>
            </a:pPr>
            <a:r>
              <a:rPr lang="en-US" sz="2000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NIRANJAN SINGH </a:t>
            </a:r>
            <a:r>
              <a:rPr lang="en-US" sz="2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[24BK1A66BX]</a:t>
            </a:r>
          </a:p>
          <a:p>
            <a:pPr algn="ctr">
              <a:lnSpc>
                <a:spcPts val="2400"/>
              </a:lnSpc>
            </a:pPr>
            <a:r>
              <a:rPr lang="en-US" sz="2000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PRINCE PATEL </a:t>
            </a:r>
            <a:r>
              <a:rPr lang="en-US" sz="2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[24BK1A66CH]</a:t>
            </a:r>
          </a:p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 ANIL NAYAK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[24BK1A66BH]</a:t>
            </a:r>
          </a:p>
          <a:p>
            <a:pPr algn="ctr">
              <a:lnSpc>
                <a:spcPts val="216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16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16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40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40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40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400"/>
              </a:lnSpc>
            </a:pPr>
            <a:r>
              <a:rPr lang="en-US" sz="2000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Guide                                            Seminar Overall Coordinator                                 HOD-CSE(AIML)</a:t>
            </a:r>
          </a:p>
          <a:p>
            <a:pPr algn="l">
              <a:lnSpc>
                <a:spcPts val="2160"/>
              </a:lnSpc>
            </a:pPr>
            <a:r>
              <a:rPr lang="en-US" sz="18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" y="55702"/>
            <a:ext cx="7437120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PHASE2 PRESENTATION</a:t>
            </a:r>
          </a:p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 &amp; EXECUTION</a:t>
            </a:r>
          </a:p>
          <a:p>
            <a:pPr algn="ctr">
              <a:lnSpc>
                <a:spcPts val="3120"/>
              </a:lnSpc>
            </a:pPr>
            <a:endParaRPr lang="en-US" sz="26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31934" y="6498802"/>
            <a:ext cx="10966132" cy="358140"/>
            <a:chOff x="0" y="0"/>
            <a:chExt cx="14621510" cy="477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21510" cy="477520"/>
            </a:xfrm>
            <a:custGeom>
              <a:avLst/>
              <a:gdLst/>
              <a:ahLst/>
              <a:cxnLst/>
              <a:rect l="l" t="t" r="r" b="b"/>
              <a:pathLst>
                <a:path w="14621510" h="477520">
                  <a:moveTo>
                    <a:pt x="0" y="0"/>
                  </a:moveTo>
                  <a:lnTo>
                    <a:pt x="14621510" y="0"/>
                  </a:lnTo>
                  <a:lnTo>
                    <a:pt x="14621510" y="477520"/>
                  </a:lnTo>
                  <a:lnTo>
                    <a:pt x="0" y="47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505" r="-50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21920" y="60960"/>
              <a:ext cx="1437767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III YEAR  I SEM                                                          Slide no 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-35263" y="5751407"/>
            <a:ext cx="2376806" cy="70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Mrs</a:t>
            </a: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 Katyayani</a:t>
            </a: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98158" y="5709840"/>
            <a:ext cx="1842429" cy="70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Dr. P. Deepan</a:t>
            </a: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F9820FD1-23C4-97B9-A86E-6DBA41858EC8}"/>
              </a:ext>
            </a:extLst>
          </p:cNvPr>
          <p:cNvSpPr txBox="1"/>
          <p:nvPr/>
        </p:nvSpPr>
        <p:spPr>
          <a:xfrm>
            <a:off x="4328242" y="5709839"/>
            <a:ext cx="2376806" cy="70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Mrs</a:t>
            </a: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 Katyayani</a:t>
            </a: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20040" y="1312545"/>
            <a:ext cx="9459887" cy="434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977" lvl="2" indent="-266659">
              <a:lnSpc>
                <a:spcPts val="4898"/>
              </a:lnSpc>
              <a:buFont typeface="Arial"/>
              <a:buChar char="⚬"/>
            </a:pPr>
            <a:r>
              <a:rPr lang="en-US" sz="3498" b="1" dirty="0">
                <a:latin typeface="Cloud Bold"/>
                <a:ea typeface="Cloud Bold"/>
                <a:cs typeface="Cloud Bold"/>
                <a:sym typeface="Cloud Bold"/>
              </a:rPr>
              <a:t>NUTRI LENS AI </a:t>
            </a:r>
            <a:r>
              <a:rPr lang="en-US" sz="3498" dirty="0">
                <a:latin typeface="Cloud"/>
                <a:ea typeface="Cloud"/>
                <a:cs typeface="Cloud"/>
                <a:sym typeface="Cloud"/>
              </a:rPr>
              <a:t> Helps people understand packaged food labels according to their health needs.</a:t>
            </a:r>
          </a:p>
          <a:p>
            <a:pPr marL="799977" lvl="2" indent="-266659">
              <a:lnSpc>
                <a:spcPts val="4898"/>
              </a:lnSpc>
            </a:pPr>
            <a:endParaRPr lang="en-US" sz="3498" dirty="0">
              <a:latin typeface="Cloud"/>
              <a:ea typeface="Cloud"/>
              <a:cs typeface="Cloud"/>
              <a:sym typeface="Cloud"/>
            </a:endParaRPr>
          </a:p>
          <a:p>
            <a:pPr marL="799977" lvl="2" indent="-266659">
              <a:lnSpc>
                <a:spcPts val="4898"/>
              </a:lnSpc>
              <a:buFont typeface="Arial"/>
              <a:buChar char="⚬"/>
            </a:pPr>
            <a:r>
              <a:rPr lang="en-US" sz="3498" dirty="0">
                <a:latin typeface="Cloud"/>
                <a:ea typeface="Cloud"/>
                <a:cs typeface="Cloud"/>
                <a:sym typeface="Cloud"/>
              </a:rPr>
              <a:t>It explains the ingredients, highlights possible risks and suggests </a:t>
            </a:r>
            <a:r>
              <a:rPr lang="en-US" sz="3498" dirty="0" err="1">
                <a:latin typeface="Cloud"/>
                <a:ea typeface="Cloud"/>
                <a:cs typeface="Cloud"/>
                <a:sym typeface="Cloud"/>
              </a:rPr>
              <a:t>healtheir</a:t>
            </a:r>
            <a:r>
              <a:rPr lang="en-US" sz="3498" dirty="0">
                <a:latin typeface="Cloud"/>
                <a:ea typeface="Cloud"/>
                <a:cs typeface="Cloud"/>
                <a:sym typeface="Cloud"/>
              </a:rPr>
              <a:t> food choices.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2192" y="331470"/>
            <a:ext cx="4373175" cy="6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56943" y="6477000"/>
            <a:ext cx="10966132" cy="358140"/>
            <a:chOff x="0" y="0"/>
            <a:chExt cx="14621510" cy="477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21510" cy="477520"/>
            </a:xfrm>
            <a:custGeom>
              <a:avLst/>
              <a:gdLst/>
              <a:ahLst/>
              <a:cxnLst/>
              <a:rect l="l" t="t" r="r" b="b"/>
              <a:pathLst>
                <a:path w="14621510" h="477520">
                  <a:moveTo>
                    <a:pt x="0" y="0"/>
                  </a:moveTo>
                  <a:lnTo>
                    <a:pt x="14621510" y="0"/>
                  </a:lnTo>
                  <a:lnTo>
                    <a:pt x="14621510" y="477520"/>
                  </a:lnTo>
                  <a:lnTo>
                    <a:pt x="0" y="47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505" r="-50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21920" y="60960"/>
              <a:ext cx="1437767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III YEAR  I SEM                                                          Slide no 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990600" y="35957"/>
            <a:ext cx="8229600" cy="1143000"/>
            <a:chOff x="0" y="0"/>
            <a:chExt cx="10972800" cy="152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0" cy="1524000"/>
            </a:xfrm>
            <a:custGeom>
              <a:avLst/>
              <a:gdLst/>
              <a:ahLst/>
              <a:cxnLst/>
              <a:rect l="l" t="t" r="r" b="b"/>
              <a:pathLst>
                <a:path w="10972800" h="1524000">
                  <a:moveTo>
                    <a:pt x="0" y="0"/>
                  </a:moveTo>
                  <a:lnTo>
                    <a:pt x="10972800" y="0"/>
                  </a:lnTo>
                  <a:lnTo>
                    <a:pt x="10972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0972800" cy="1552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Domain of the Project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6943" y="6477000"/>
            <a:ext cx="10966132" cy="358140"/>
            <a:chOff x="0" y="0"/>
            <a:chExt cx="14621510" cy="477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21510" cy="477520"/>
            </a:xfrm>
            <a:custGeom>
              <a:avLst/>
              <a:gdLst/>
              <a:ahLst/>
              <a:cxnLst/>
              <a:rect l="l" t="t" r="r" b="b"/>
              <a:pathLst>
                <a:path w="14621510" h="477520">
                  <a:moveTo>
                    <a:pt x="0" y="0"/>
                  </a:moveTo>
                  <a:lnTo>
                    <a:pt x="14621510" y="0"/>
                  </a:lnTo>
                  <a:lnTo>
                    <a:pt x="14621510" y="477520"/>
                  </a:lnTo>
                  <a:lnTo>
                    <a:pt x="0" y="47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505" r="-50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21920" y="60960"/>
              <a:ext cx="1437767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III YEAR  I SEM                                                          Slide no 3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5800" y="2134727"/>
            <a:ext cx="2189078" cy="33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2515" b="1" spc="-100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Primary domain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7524" y="2821181"/>
            <a:ext cx="8439381" cy="325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75" lvl="1" indent="-205138" algn="l">
              <a:lnSpc>
                <a:spcPts val="2661"/>
              </a:lnSpc>
              <a:buFont typeface="Arial"/>
              <a:buChar char="•"/>
            </a:pPr>
            <a:r>
              <a:rPr lang="en-US" sz="1901" b="1" spc="152">
                <a:solidFill>
                  <a:srgbClr val="FF8F82"/>
                </a:solidFill>
                <a:latin typeface="Roboto Bold"/>
                <a:ea typeface="Roboto Bold"/>
                <a:cs typeface="Roboto Bold"/>
                <a:sym typeface="Roboto Bold"/>
              </a:rPr>
              <a:t>ARTIFICIAL INTELLIGENCE (AI) AND MACHINE LEARNING (ML)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0339" y="3506057"/>
            <a:ext cx="7276814" cy="52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  <a:spcBef>
                <a:spcPct val="0"/>
              </a:spcBef>
            </a:pPr>
            <a:r>
              <a:rPr lang="en-US" sz="1494" spc="1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AI/ML ENABLES NUTRI LENS  AI TO ANALYZE FOOD INGREDIENTS AND RECOMMEND HEALTHIER FOOD CHOICES.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990600" y="35957"/>
            <a:ext cx="8229600" cy="1143000"/>
            <a:chOff x="0" y="0"/>
            <a:chExt cx="10972800" cy="152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0" cy="1524000"/>
            </a:xfrm>
            <a:custGeom>
              <a:avLst/>
              <a:gdLst/>
              <a:ahLst/>
              <a:cxnLst/>
              <a:rect l="l" t="t" r="r" b="b"/>
              <a:pathLst>
                <a:path w="10972800" h="1524000">
                  <a:moveTo>
                    <a:pt x="0" y="0"/>
                  </a:moveTo>
                  <a:lnTo>
                    <a:pt x="10972800" y="0"/>
                  </a:lnTo>
                  <a:lnTo>
                    <a:pt x="10972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0972800" cy="1552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Domain of the Project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8749" y="6490621"/>
            <a:ext cx="10935533" cy="624840"/>
            <a:chOff x="0" y="0"/>
            <a:chExt cx="14580711" cy="833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80711" cy="833120"/>
            </a:xfrm>
            <a:custGeom>
              <a:avLst/>
              <a:gdLst/>
              <a:ahLst/>
              <a:cxnLst/>
              <a:rect l="l" t="t" r="r" b="b"/>
              <a:pathLst>
                <a:path w="14580711" h="833120">
                  <a:moveTo>
                    <a:pt x="0" y="0"/>
                  </a:moveTo>
                  <a:lnTo>
                    <a:pt x="14580711" y="0"/>
                  </a:lnTo>
                  <a:lnTo>
                    <a:pt x="14580711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8361" r="-3836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21920" y="60960"/>
              <a:ext cx="14458791" cy="352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43"/>
                </a:lnSpc>
              </a:pPr>
              <a:r>
                <a:rPr lang="en-US" sz="178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III YEAR  I SEM                                                          Slide no 4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08838" y="1473499"/>
            <a:ext cx="889438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SECONDARY DOMAIN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2901" y="2360939"/>
            <a:ext cx="10434699" cy="3586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205" lvl="1" indent="-227603" algn="l">
              <a:lnSpc>
                <a:spcPts val="3164"/>
              </a:lnSpc>
              <a:buFont typeface="Arial"/>
              <a:buChar char="•"/>
            </a:pPr>
            <a:r>
              <a:rPr lang="en-US" sz="2109" b="1" spc="168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NATURAL LANGUAGE PROCESSING (NLP):</a:t>
            </a:r>
            <a:r>
              <a:rPr lang="en-US" sz="2109" b="1" spc="168">
                <a:solidFill>
                  <a:srgbClr val="100F0F"/>
                </a:solidFill>
                <a:latin typeface="Roboto Bold"/>
                <a:ea typeface="Roboto Bold"/>
                <a:cs typeface="Roboto Bold"/>
                <a:sym typeface="Roboto Bold"/>
              </a:rPr>
              <a:t> TO ANALYZE INGREDIENTS AND GENERATE UNDERSTANDABLE EXPLANATIONS.</a:t>
            </a:r>
          </a:p>
          <a:p>
            <a:pPr marL="455205" lvl="1" indent="-227603" algn="l">
              <a:lnSpc>
                <a:spcPts val="3164"/>
              </a:lnSpc>
              <a:buFont typeface="Arial"/>
              <a:buChar char="•"/>
            </a:pPr>
            <a:r>
              <a:rPr lang="en-US" sz="2109" b="1" spc="168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COMPUTER VISION AND OCR:</a:t>
            </a:r>
            <a:r>
              <a:rPr lang="en-US" sz="2109" b="1" spc="168">
                <a:solidFill>
                  <a:srgbClr val="100F0F"/>
                </a:solidFill>
                <a:latin typeface="Roboto Bold"/>
                <a:ea typeface="Roboto Bold"/>
                <a:cs typeface="Roboto Bold"/>
                <a:sym typeface="Roboto Bold"/>
              </a:rPr>
              <a:t> TO EXTRACT TEXT FROM FOOD-LABEL IMAGES.</a:t>
            </a:r>
          </a:p>
          <a:p>
            <a:pPr marL="455205" lvl="1" indent="-227603" algn="l">
              <a:lnSpc>
                <a:spcPts val="3164"/>
              </a:lnSpc>
              <a:buFont typeface="Arial"/>
              <a:buChar char="•"/>
            </a:pPr>
            <a:r>
              <a:rPr lang="en-US" sz="2109" b="1" spc="168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HEALTH INFORMATICS:</a:t>
            </a:r>
            <a:r>
              <a:rPr lang="en-US" sz="2109" b="1" spc="168">
                <a:solidFill>
                  <a:srgbClr val="100F0F"/>
                </a:solidFill>
                <a:latin typeface="Roboto Bold"/>
                <a:ea typeface="Roboto Bold"/>
                <a:cs typeface="Roboto Bold"/>
                <a:sym typeface="Roboto Bold"/>
              </a:rPr>
              <a:t> TO ORGANIZE AND INTERPRET NUTRITIONAL INFORMATION.</a:t>
            </a:r>
          </a:p>
          <a:p>
            <a:pPr marL="455205" lvl="1" indent="-227603" algn="l">
              <a:lnSpc>
                <a:spcPts val="3164"/>
              </a:lnSpc>
              <a:buFont typeface="Arial"/>
              <a:buChar char="•"/>
            </a:pPr>
            <a:r>
              <a:rPr lang="en-US" sz="2109" b="1" spc="168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RECOMMENDATION SYSTEMS:</a:t>
            </a:r>
            <a:r>
              <a:rPr lang="en-US" sz="2109" b="1" spc="168">
                <a:solidFill>
                  <a:srgbClr val="100F0F"/>
                </a:solidFill>
                <a:latin typeface="Roboto Bold"/>
                <a:ea typeface="Roboto Bold"/>
                <a:cs typeface="Roboto Bold"/>
                <a:sym typeface="Roboto Bold"/>
              </a:rPr>
              <a:t> TO SUGGEST ALTERNATIVE FOOD PRODUCTS BASED ON NUTRITIONAL CRITERIA AND USER PREFERENCES.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1503710" y="-81792"/>
            <a:ext cx="8229600" cy="1143000"/>
            <a:chOff x="0" y="0"/>
            <a:chExt cx="10972800" cy="152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0" cy="1524000"/>
            </a:xfrm>
            <a:custGeom>
              <a:avLst/>
              <a:gdLst/>
              <a:ahLst/>
              <a:cxnLst/>
              <a:rect l="l" t="t" r="r" b="b"/>
              <a:pathLst>
                <a:path w="10972800" h="1524000">
                  <a:moveTo>
                    <a:pt x="0" y="0"/>
                  </a:moveTo>
                  <a:lnTo>
                    <a:pt x="10972800" y="0"/>
                  </a:lnTo>
                  <a:lnTo>
                    <a:pt x="10972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0972800" cy="1543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2533" y="6499860"/>
            <a:ext cx="11087572" cy="624840"/>
            <a:chOff x="0" y="0"/>
            <a:chExt cx="14783430" cy="833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80711" cy="833120"/>
            </a:xfrm>
            <a:custGeom>
              <a:avLst/>
              <a:gdLst/>
              <a:ahLst/>
              <a:cxnLst/>
              <a:rect l="l" t="t" r="r" b="b"/>
              <a:pathLst>
                <a:path w="14580711" h="833120">
                  <a:moveTo>
                    <a:pt x="0" y="0"/>
                  </a:moveTo>
                  <a:lnTo>
                    <a:pt x="14580711" y="0"/>
                  </a:lnTo>
                  <a:lnTo>
                    <a:pt x="14580711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8361" r="-3836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21920" y="60960"/>
              <a:ext cx="1466151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III YEAR  I SEM                                                          Slide no 5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5800" y="2004973"/>
            <a:ext cx="9812366" cy="311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25" lvl="1" indent="-240163" algn="l">
              <a:lnSpc>
                <a:spcPts val="3114"/>
              </a:lnSpc>
              <a:spcBef>
                <a:spcPct val="0"/>
              </a:spcBef>
              <a:buFont typeface="Arial"/>
              <a:buChar char="•"/>
            </a:pPr>
            <a:r>
              <a:rPr lang="en-US" sz="2224" spc="22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CONSUMERS STRUGGLE TO UNDERSTAND COMPLEX INGREDIENT LISTS ON PACKAGED FOODS.</a:t>
            </a:r>
          </a:p>
          <a:p>
            <a:pPr algn="l">
              <a:lnSpc>
                <a:spcPts val="3114"/>
              </a:lnSpc>
              <a:spcBef>
                <a:spcPct val="0"/>
              </a:spcBef>
            </a:pPr>
            <a:endParaRPr lang="en-US" sz="2224" spc="22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80325" lvl="1" indent="-240163" algn="l">
              <a:lnSpc>
                <a:spcPts val="3114"/>
              </a:lnSpc>
              <a:spcBef>
                <a:spcPct val="0"/>
              </a:spcBef>
              <a:buFont typeface="Arial"/>
              <a:buChar char="•"/>
            </a:pPr>
            <a:r>
              <a:rPr lang="en-US" sz="2224" spc="22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HIDDEN SUGARS, EXCESS SODIUM, AND UNHEALTHY FATS ARE DIFFICULT TO IDENTIFY.</a:t>
            </a:r>
          </a:p>
          <a:p>
            <a:pPr algn="l">
              <a:lnSpc>
                <a:spcPts val="3114"/>
              </a:lnSpc>
              <a:spcBef>
                <a:spcPct val="0"/>
              </a:spcBef>
            </a:pPr>
            <a:endParaRPr lang="en-US" sz="2224" spc="22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80325" lvl="1" indent="-240163" algn="l">
              <a:lnSpc>
                <a:spcPts val="3114"/>
              </a:lnSpc>
              <a:spcBef>
                <a:spcPct val="0"/>
              </a:spcBef>
              <a:buFont typeface="Arial"/>
              <a:buChar char="•"/>
            </a:pPr>
            <a:r>
              <a:rPr lang="en-US" sz="2224" spc="22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UNFAMILIAR ADDITIVES AND CHEMICAL NAMES CREATE CONFUSION.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1503710" y="-81792"/>
            <a:ext cx="8229600" cy="1143000"/>
            <a:chOff x="0" y="0"/>
            <a:chExt cx="10972800" cy="152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0" cy="1524000"/>
            </a:xfrm>
            <a:custGeom>
              <a:avLst/>
              <a:gdLst/>
              <a:ahLst/>
              <a:cxnLst/>
              <a:rect l="l" t="t" r="r" b="b"/>
              <a:pathLst>
                <a:path w="10972800" h="1524000">
                  <a:moveTo>
                    <a:pt x="0" y="0"/>
                  </a:moveTo>
                  <a:lnTo>
                    <a:pt x="10972800" y="0"/>
                  </a:lnTo>
                  <a:lnTo>
                    <a:pt x="10972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0972800" cy="1543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4467" y="6486839"/>
            <a:ext cx="10935533" cy="624840"/>
            <a:chOff x="0" y="0"/>
            <a:chExt cx="14580711" cy="833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80711" cy="833120"/>
            </a:xfrm>
            <a:custGeom>
              <a:avLst/>
              <a:gdLst/>
              <a:ahLst/>
              <a:cxnLst/>
              <a:rect l="l" t="t" r="r" b="b"/>
              <a:pathLst>
                <a:path w="14580711" h="833120">
                  <a:moveTo>
                    <a:pt x="0" y="0"/>
                  </a:moveTo>
                  <a:lnTo>
                    <a:pt x="14580711" y="0"/>
                  </a:lnTo>
                  <a:lnTo>
                    <a:pt x="14580711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8361" r="-3836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21920" y="60960"/>
              <a:ext cx="14458791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III YEAR  I SEM                                                          Slide no 6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5800" y="1511939"/>
            <a:ext cx="11047769" cy="339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3707" lvl="1" indent="-261853" algn="l">
              <a:lnSpc>
                <a:spcPts val="3395"/>
              </a:lnSpc>
              <a:spcBef>
                <a:spcPct val="0"/>
              </a:spcBef>
              <a:buFont typeface="Arial"/>
              <a:buChar char="•"/>
            </a:pPr>
            <a:r>
              <a:rPr lang="en-US" sz="2425" spc="2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COMPARING NUTRITIONAL VALUES ACROSS DIFFERENT PRODUCTS IS TIME-CONSUMING.</a:t>
            </a:r>
          </a:p>
          <a:p>
            <a:pPr algn="l">
              <a:lnSpc>
                <a:spcPts val="3395"/>
              </a:lnSpc>
              <a:spcBef>
                <a:spcPct val="0"/>
              </a:spcBef>
            </a:pPr>
            <a:endParaRPr lang="en-US" sz="2425" spc="24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23707" lvl="1" indent="-261853" algn="l">
              <a:lnSpc>
                <a:spcPts val="3395"/>
              </a:lnSpc>
              <a:spcBef>
                <a:spcPct val="0"/>
              </a:spcBef>
              <a:buFont typeface="Arial"/>
              <a:buChar char="•"/>
            </a:pPr>
            <a:r>
              <a:rPr lang="en-US" sz="2425" spc="2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PEOPLE OFTEN LACK AWARENESS OF THE POTENTIAL EFFECTS OF CERTAIN INGREDIENTS.</a:t>
            </a:r>
          </a:p>
          <a:p>
            <a:pPr algn="l">
              <a:lnSpc>
                <a:spcPts val="3395"/>
              </a:lnSpc>
              <a:spcBef>
                <a:spcPct val="0"/>
              </a:spcBef>
            </a:pPr>
            <a:endParaRPr lang="en-US" sz="2425" spc="24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23707" lvl="1" indent="-261853" algn="l">
              <a:lnSpc>
                <a:spcPts val="3395"/>
              </a:lnSpc>
              <a:spcBef>
                <a:spcPct val="0"/>
              </a:spcBef>
              <a:buFont typeface="Arial"/>
              <a:buChar char="•"/>
            </a:pPr>
            <a:r>
              <a:rPr lang="en-US" sz="2425" spc="2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IDENTIFYING ALLERGENS AND DIETARY RESTRICTIONS REQUIRES CAREFUL LABEL CHECKING.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838200" y="-76200"/>
            <a:ext cx="5456641" cy="1143000"/>
            <a:chOff x="0" y="0"/>
            <a:chExt cx="7275522" cy="152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75522" cy="1524000"/>
            </a:xfrm>
            <a:custGeom>
              <a:avLst/>
              <a:gdLst/>
              <a:ahLst/>
              <a:cxnLst/>
              <a:rect l="l" t="t" r="r" b="b"/>
              <a:pathLst>
                <a:path w="7275522" h="1524000">
                  <a:moveTo>
                    <a:pt x="0" y="0"/>
                  </a:moveTo>
                  <a:lnTo>
                    <a:pt x="7275522" y="0"/>
                  </a:lnTo>
                  <a:lnTo>
                    <a:pt x="7275522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r="-50818" b="-9029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275522" cy="1543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1396" y="6553200"/>
            <a:ext cx="11141679" cy="624840"/>
            <a:chOff x="0" y="0"/>
            <a:chExt cx="14855572" cy="833120"/>
          </a:xfrm>
        </p:grpSpPr>
        <p:sp>
          <p:nvSpPr>
            <p:cNvPr id="10" name="Freeform 10"/>
            <p:cNvSpPr/>
            <p:nvPr/>
          </p:nvSpPr>
          <p:spPr>
            <a:xfrm>
              <a:off x="274861" y="0"/>
              <a:ext cx="14580711" cy="833120"/>
            </a:xfrm>
            <a:custGeom>
              <a:avLst/>
              <a:gdLst/>
              <a:ahLst/>
              <a:cxnLst/>
              <a:rect l="l" t="t" r="r" b="b"/>
              <a:pathLst>
                <a:path w="14580711" h="833120">
                  <a:moveTo>
                    <a:pt x="0" y="0"/>
                  </a:moveTo>
                  <a:lnTo>
                    <a:pt x="14580711" y="0"/>
                  </a:lnTo>
                  <a:lnTo>
                    <a:pt x="14580711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8361" r="-3836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60960"/>
              <a:ext cx="14733652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III YEAR  I SEM                                                          Slide no 7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05799" y="1530731"/>
            <a:ext cx="11430000" cy="3748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6"/>
              </a:lnSpc>
              <a:spcBef>
                <a:spcPct val="0"/>
              </a:spcBef>
            </a:pPr>
            <a:r>
              <a:rPr lang="en-US" sz="1790" b="1" spc="-7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9-Step OpenCV Preprocessing Pipeline: </a:t>
            </a:r>
          </a:p>
          <a:p>
            <a:pPr marL="386527" lvl="1" indent="-193264" algn="l">
              <a:lnSpc>
                <a:spcPts val="2506"/>
              </a:lnSpc>
              <a:spcBef>
                <a:spcPct val="0"/>
              </a:spcBef>
              <a:buFont typeface="Arial"/>
              <a:buChar char="•"/>
            </a:pPr>
            <a:r>
              <a:rPr lang="en-US" sz="1790" b="1" spc="-7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Grayscale Conversion:</a:t>
            </a:r>
            <a:r>
              <a:rPr lang="en-US" sz="1790" b="1" spc="-7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Reduces computational overhead from 3-channel RGB to 1-channel luminance.</a:t>
            </a:r>
          </a:p>
          <a:p>
            <a:pPr marL="386527" lvl="1" indent="-193264" algn="l">
              <a:lnSpc>
                <a:spcPts val="2506"/>
              </a:lnSpc>
              <a:spcBef>
                <a:spcPct val="0"/>
              </a:spcBef>
              <a:buFont typeface="Arial"/>
              <a:buChar char="•"/>
            </a:pPr>
            <a:r>
              <a:rPr lang="en-US" sz="1790" b="1" spc="-7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Bilateral Filtering:</a:t>
            </a:r>
            <a:r>
              <a:rPr lang="en-US" sz="1790" b="1" spc="-7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Removes sensor noise while preserving critical text edges (σcolor​=75,σspace​=75).</a:t>
            </a:r>
          </a:p>
          <a:p>
            <a:pPr marL="386527" lvl="1" indent="-193264" algn="l">
              <a:lnSpc>
                <a:spcPts val="2506"/>
              </a:lnSpc>
              <a:spcBef>
                <a:spcPct val="0"/>
              </a:spcBef>
              <a:buFont typeface="Arial"/>
              <a:buChar char="•"/>
            </a:pPr>
            <a:r>
              <a:rPr lang="en-US" sz="1790" b="1" spc="-7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CLAHE (Adaptive Histogram Equalization)</a:t>
            </a:r>
            <a:r>
              <a:rPr lang="en-US" sz="1790" b="1" spc="-7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: Corrects uneven supermarket lighting and flash glare.</a:t>
            </a:r>
          </a:p>
          <a:p>
            <a:pPr marL="386527" lvl="1" indent="-193264" algn="l">
              <a:lnSpc>
                <a:spcPts val="2506"/>
              </a:lnSpc>
              <a:spcBef>
                <a:spcPct val="0"/>
              </a:spcBef>
              <a:buFont typeface="Arial"/>
              <a:buChar char="•"/>
            </a:pPr>
            <a:r>
              <a:rPr lang="en-US" sz="1790" b="1" spc="-7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Morphological Gradient &amp; Otsu Thresholding: </a:t>
            </a:r>
            <a:r>
              <a:rPr lang="en-US" sz="1790" b="1" spc="-7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Dynamically isolates character boundaries from packaging backgrounds.</a:t>
            </a:r>
          </a:p>
          <a:p>
            <a:pPr marL="386527" lvl="1" indent="-193264" algn="l">
              <a:lnSpc>
                <a:spcPts val="2506"/>
              </a:lnSpc>
              <a:spcBef>
                <a:spcPct val="0"/>
              </a:spcBef>
              <a:buFont typeface="Arial"/>
              <a:buChar char="•"/>
            </a:pPr>
            <a:r>
              <a:rPr lang="en-US" sz="1790" b="1" spc="-7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Deskewing &amp; Affine Rotation:</a:t>
            </a:r>
            <a:r>
              <a:rPr lang="en-US" sz="1790" b="1" spc="-7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Detects text orientation via cv2.minAreaRect and realigns rotated labels.</a:t>
            </a:r>
          </a:p>
          <a:p>
            <a:pPr marL="386527" lvl="1" indent="-193264" algn="l">
              <a:lnSpc>
                <a:spcPts val="2506"/>
              </a:lnSpc>
              <a:spcBef>
                <a:spcPct val="0"/>
              </a:spcBef>
              <a:buFont typeface="Arial"/>
              <a:buChar char="•"/>
            </a:pPr>
            <a:r>
              <a:rPr lang="en-US" sz="1790" b="1" spc="-7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Morphological Closing &amp; 5px Padding:</a:t>
            </a:r>
            <a:r>
              <a:rPr lang="en-US" sz="1790" b="1" spc="-7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Reconnects broken dot-matrix printing and prevents border truncation.</a:t>
            </a:r>
          </a:p>
          <a:p>
            <a:pPr algn="l">
              <a:lnSpc>
                <a:spcPts val="2506"/>
              </a:lnSpc>
              <a:spcBef>
                <a:spcPct val="0"/>
              </a:spcBef>
            </a:pPr>
            <a:endParaRPr lang="en-US" sz="1790" b="1" spc="-7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2506"/>
              </a:lnSpc>
              <a:spcBef>
                <a:spcPct val="0"/>
              </a:spcBef>
            </a:pPr>
            <a:r>
              <a:rPr lang="en-US" sz="1790" b="1" spc="-7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OCR Inference Engine: </a:t>
            </a:r>
          </a:p>
          <a:p>
            <a:pPr marL="386527" lvl="1" indent="-193264" algn="l">
              <a:lnSpc>
                <a:spcPts val="2506"/>
              </a:lnSpc>
              <a:spcBef>
                <a:spcPct val="0"/>
              </a:spcBef>
              <a:buFont typeface="Arial"/>
              <a:buChar char="•"/>
            </a:pPr>
            <a:r>
              <a:rPr lang="en-US" sz="1790" b="1" spc="-7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Powered by Google Tesseract 5.x LSTM Neural Network (--oem 1 --psm 6).</a:t>
            </a:r>
          </a:p>
          <a:p>
            <a:pPr marL="386527" lvl="1" indent="-193264" algn="l">
              <a:lnSpc>
                <a:spcPts val="2506"/>
              </a:lnSpc>
              <a:spcBef>
                <a:spcPct val="0"/>
              </a:spcBef>
              <a:buFont typeface="Arial"/>
              <a:buChar char="•"/>
            </a:pPr>
            <a:r>
              <a:rPr lang="en-US" sz="1790" b="1" spc="-7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Per-word confidence thresholding (≥60%) discards unreadable background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304800" y="0"/>
            <a:ext cx="3170641" cy="1143000"/>
            <a:chOff x="0" y="0"/>
            <a:chExt cx="4227522" cy="152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27522" cy="1524000"/>
            </a:xfrm>
            <a:custGeom>
              <a:avLst/>
              <a:gdLst/>
              <a:ahLst/>
              <a:cxnLst/>
              <a:rect l="l" t="t" r="r" b="b"/>
              <a:pathLst>
                <a:path w="4227522" h="1524000">
                  <a:moveTo>
                    <a:pt x="0" y="0"/>
                  </a:moveTo>
                  <a:lnTo>
                    <a:pt x="4227522" y="0"/>
                  </a:lnTo>
                  <a:lnTo>
                    <a:pt x="4227522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r="-159556" b="-9029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4227522" cy="1514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Tools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6954" y="6477000"/>
            <a:ext cx="10876122" cy="624840"/>
            <a:chOff x="0" y="0"/>
            <a:chExt cx="14501496" cy="833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01496" cy="833120"/>
            </a:xfrm>
            <a:custGeom>
              <a:avLst/>
              <a:gdLst/>
              <a:ahLst/>
              <a:cxnLst/>
              <a:rect l="l" t="t" r="r" b="b"/>
              <a:pathLst>
                <a:path w="14501496" h="833120">
                  <a:moveTo>
                    <a:pt x="0" y="0"/>
                  </a:moveTo>
                  <a:lnTo>
                    <a:pt x="14501496" y="0"/>
                  </a:lnTo>
                  <a:lnTo>
                    <a:pt x="14501496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8844" r="-38844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21920" y="60960"/>
              <a:ext cx="14379576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III YEAR  I SEM                                                          Slide no 8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1656810"/>
            <a:ext cx="3078013" cy="2171675"/>
            <a:chOff x="0" y="0"/>
            <a:chExt cx="5907694" cy="41681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07694" cy="4168140"/>
            </a:xfrm>
            <a:custGeom>
              <a:avLst/>
              <a:gdLst/>
              <a:ahLst/>
              <a:cxnLst/>
              <a:rect l="l" t="t" r="r" b="b"/>
              <a:pathLst>
                <a:path w="5907694" h="4168140">
                  <a:moveTo>
                    <a:pt x="218102" y="0"/>
                  </a:moveTo>
                  <a:lnTo>
                    <a:pt x="5689591" y="0"/>
                  </a:lnTo>
                  <a:cubicBezTo>
                    <a:pt x="5810046" y="0"/>
                    <a:pt x="5907694" y="97648"/>
                    <a:pt x="5907694" y="218102"/>
                  </a:cubicBezTo>
                  <a:lnTo>
                    <a:pt x="5907694" y="3950038"/>
                  </a:lnTo>
                  <a:cubicBezTo>
                    <a:pt x="5907694" y="4007882"/>
                    <a:pt x="5884715" y="4063357"/>
                    <a:pt x="5843813" y="4104260"/>
                  </a:cubicBezTo>
                  <a:cubicBezTo>
                    <a:pt x="5802911" y="4145162"/>
                    <a:pt x="5747436" y="4168140"/>
                    <a:pt x="5689591" y="4168140"/>
                  </a:cubicBezTo>
                  <a:lnTo>
                    <a:pt x="218102" y="4168140"/>
                  </a:lnTo>
                  <a:cubicBezTo>
                    <a:pt x="97648" y="4168140"/>
                    <a:pt x="0" y="4070493"/>
                    <a:pt x="0" y="3950038"/>
                  </a:cubicBezTo>
                  <a:lnTo>
                    <a:pt x="0" y="218102"/>
                  </a:lnTo>
                  <a:cubicBezTo>
                    <a:pt x="0" y="160258"/>
                    <a:pt x="22979" y="104783"/>
                    <a:pt x="63881" y="63881"/>
                  </a:cubicBezTo>
                  <a:cubicBezTo>
                    <a:pt x="104783" y="22979"/>
                    <a:pt x="160258" y="0"/>
                    <a:pt x="21810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907694" cy="4206240"/>
            </a:xfrm>
            <a:prstGeom prst="rect">
              <a:avLst/>
            </a:prstGeom>
          </p:spPr>
          <p:txBody>
            <a:bodyPr lIns="49273" tIns="49273" rIns="49273" bIns="49273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72158" y="1773808"/>
            <a:ext cx="2705297" cy="2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sz="131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COMPUTER VISION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2158" y="2144355"/>
            <a:ext cx="2705297" cy="78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2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OpenCV (cv2)</a:t>
            </a:r>
          </a:p>
          <a:p>
            <a:pPr algn="l">
              <a:lnSpc>
                <a:spcPts val="2063"/>
              </a:lnSpc>
            </a:pPr>
            <a:r>
              <a:rPr lang="en-US" sz="152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NumPy</a:t>
            </a:r>
          </a:p>
          <a:p>
            <a:pPr algn="l">
              <a:lnSpc>
                <a:spcPts val="2063"/>
              </a:lnSpc>
            </a:pPr>
            <a:r>
              <a:rPr lang="en-US" sz="152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CLAHE &amp; Otsu Algo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950171" y="1656810"/>
            <a:ext cx="3078013" cy="2171675"/>
            <a:chOff x="0" y="0"/>
            <a:chExt cx="5907694" cy="41681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07694" cy="4168140"/>
            </a:xfrm>
            <a:custGeom>
              <a:avLst/>
              <a:gdLst/>
              <a:ahLst/>
              <a:cxnLst/>
              <a:rect l="l" t="t" r="r" b="b"/>
              <a:pathLst>
                <a:path w="5907694" h="4168140">
                  <a:moveTo>
                    <a:pt x="218102" y="0"/>
                  </a:moveTo>
                  <a:lnTo>
                    <a:pt x="5689591" y="0"/>
                  </a:lnTo>
                  <a:cubicBezTo>
                    <a:pt x="5810046" y="0"/>
                    <a:pt x="5907694" y="97648"/>
                    <a:pt x="5907694" y="218102"/>
                  </a:cubicBezTo>
                  <a:lnTo>
                    <a:pt x="5907694" y="3950038"/>
                  </a:lnTo>
                  <a:cubicBezTo>
                    <a:pt x="5907694" y="4007882"/>
                    <a:pt x="5884715" y="4063357"/>
                    <a:pt x="5843813" y="4104260"/>
                  </a:cubicBezTo>
                  <a:cubicBezTo>
                    <a:pt x="5802911" y="4145162"/>
                    <a:pt x="5747436" y="4168140"/>
                    <a:pt x="5689591" y="4168140"/>
                  </a:cubicBezTo>
                  <a:lnTo>
                    <a:pt x="218102" y="4168140"/>
                  </a:lnTo>
                  <a:cubicBezTo>
                    <a:pt x="97648" y="4168140"/>
                    <a:pt x="0" y="4070493"/>
                    <a:pt x="0" y="3950038"/>
                  </a:cubicBezTo>
                  <a:lnTo>
                    <a:pt x="0" y="218102"/>
                  </a:lnTo>
                  <a:cubicBezTo>
                    <a:pt x="0" y="160258"/>
                    <a:pt x="22979" y="104783"/>
                    <a:pt x="63881" y="63881"/>
                  </a:cubicBezTo>
                  <a:cubicBezTo>
                    <a:pt x="104783" y="22979"/>
                    <a:pt x="160258" y="0"/>
                    <a:pt x="21810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907694" cy="4206240"/>
            </a:xfrm>
            <a:prstGeom prst="rect">
              <a:avLst/>
            </a:prstGeom>
          </p:spPr>
          <p:txBody>
            <a:bodyPr lIns="49273" tIns="49273" rIns="49273" bIns="49273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136529" y="1773808"/>
            <a:ext cx="2705297" cy="2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sz="131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NLP &amp; ALGORITHMS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36529" y="2144355"/>
            <a:ext cx="2705297" cy="103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Tesseract OCR (v5.x)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PyTesseract Engine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Python Regex (re)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Fuzzy String Matcher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214542" y="1656810"/>
            <a:ext cx="3078013" cy="2171675"/>
            <a:chOff x="0" y="0"/>
            <a:chExt cx="5907694" cy="41681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07694" cy="4168140"/>
            </a:xfrm>
            <a:custGeom>
              <a:avLst/>
              <a:gdLst/>
              <a:ahLst/>
              <a:cxnLst/>
              <a:rect l="l" t="t" r="r" b="b"/>
              <a:pathLst>
                <a:path w="5907694" h="4168140">
                  <a:moveTo>
                    <a:pt x="218102" y="0"/>
                  </a:moveTo>
                  <a:lnTo>
                    <a:pt x="5689591" y="0"/>
                  </a:lnTo>
                  <a:cubicBezTo>
                    <a:pt x="5810046" y="0"/>
                    <a:pt x="5907694" y="97648"/>
                    <a:pt x="5907694" y="218102"/>
                  </a:cubicBezTo>
                  <a:lnTo>
                    <a:pt x="5907694" y="3950038"/>
                  </a:lnTo>
                  <a:cubicBezTo>
                    <a:pt x="5907694" y="4007882"/>
                    <a:pt x="5884715" y="4063357"/>
                    <a:pt x="5843813" y="4104260"/>
                  </a:cubicBezTo>
                  <a:cubicBezTo>
                    <a:pt x="5802911" y="4145162"/>
                    <a:pt x="5747436" y="4168140"/>
                    <a:pt x="5689591" y="4168140"/>
                  </a:cubicBezTo>
                  <a:lnTo>
                    <a:pt x="218102" y="4168140"/>
                  </a:lnTo>
                  <a:cubicBezTo>
                    <a:pt x="97648" y="4168140"/>
                    <a:pt x="0" y="4070493"/>
                    <a:pt x="0" y="3950038"/>
                  </a:cubicBezTo>
                  <a:lnTo>
                    <a:pt x="0" y="218102"/>
                  </a:lnTo>
                  <a:cubicBezTo>
                    <a:pt x="0" y="160258"/>
                    <a:pt x="22979" y="104783"/>
                    <a:pt x="63881" y="63881"/>
                  </a:cubicBezTo>
                  <a:cubicBezTo>
                    <a:pt x="104783" y="22979"/>
                    <a:pt x="160258" y="0"/>
                    <a:pt x="21810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907694" cy="4206240"/>
            </a:xfrm>
            <a:prstGeom prst="rect">
              <a:avLst/>
            </a:prstGeom>
          </p:spPr>
          <p:txBody>
            <a:bodyPr lIns="49273" tIns="49273" rIns="49273" bIns="49273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400900" y="1773808"/>
            <a:ext cx="2705297" cy="2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sz="131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BACKEND &amp; DATABASE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00900" y="2144355"/>
            <a:ext cx="2705297" cy="103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Python 3.10+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Flask / RESTful API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MySQL 8.0</a:t>
            </a:r>
          </a:p>
          <a:p>
            <a:pPr algn="l">
              <a:lnSpc>
                <a:spcPts val="2063"/>
              </a:lnSpc>
            </a:pPr>
            <a:endParaRPr lang="en-US" sz="1528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685800" y="4000525"/>
            <a:ext cx="3078013" cy="2171675"/>
            <a:chOff x="0" y="0"/>
            <a:chExt cx="5907694" cy="41681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907694" cy="4168140"/>
            </a:xfrm>
            <a:custGeom>
              <a:avLst/>
              <a:gdLst/>
              <a:ahLst/>
              <a:cxnLst/>
              <a:rect l="l" t="t" r="r" b="b"/>
              <a:pathLst>
                <a:path w="5907694" h="4168140">
                  <a:moveTo>
                    <a:pt x="218102" y="0"/>
                  </a:moveTo>
                  <a:lnTo>
                    <a:pt x="5689591" y="0"/>
                  </a:lnTo>
                  <a:cubicBezTo>
                    <a:pt x="5810046" y="0"/>
                    <a:pt x="5907694" y="97648"/>
                    <a:pt x="5907694" y="218102"/>
                  </a:cubicBezTo>
                  <a:lnTo>
                    <a:pt x="5907694" y="3950038"/>
                  </a:lnTo>
                  <a:cubicBezTo>
                    <a:pt x="5907694" y="4007882"/>
                    <a:pt x="5884715" y="4063357"/>
                    <a:pt x="5843813" y="4104260"/>
                  </a:cubicBezTo>
                  <a:cubicBezTo>
                    <a:pt x="5802911" y="4145162"/>
                    <a:pt x="5747436" y="4168140"/>
                    <a:pt x="5689591" y="4168140"/>
                  </a:cubicBezTo>
                  <a:lnTo>
                    <a:pt x="218102" y="4168140"/>
                  </a:lnTo>
                  <a:cubicBezTo>
                    <a:pt x="97648" y="4168140"/>
                    <a:pt x="0" y="4070493"/>
                    <a:pt x="0" y="3950038"/>
                  </a:cubicBezTo>
                  <a:lnTo>
                    <a:pt x="0" y="218102"/>
                  </a:lnTo>
                  <a:cubicBezTo>
                    <a:pt x="0" y="160258"/>
                    <a:pt x="22979" y="104783"/>
                    <a:pt x="63881" y="63881"/>
                  </a:cubicBezTo>
                  <a:cubicBezTo>
                    <a:pt x="104783" y="22979"/>
                    <a:pt x="160258" y="0"/>
                    <a:pt x="21810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907694" cy="4206240"/>
            </a:xfrm>
            <a:prstGeom prst="rect">
              <a:avLst/>
            </a:prstGeom>
          </p:spPr>
          <p:txBody>
            <a:bodyPr lIns="49273" tIns="49273" rIns="49273" bIns="49273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872158" y="4117523"/>
            <a:ext cx="2705297" cy="2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sz="131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FRONTEND &amp; CLIENT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2158" y="4488070"/>
            <a:ext cx="2705297" cy="78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2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HTML5, CSS3, ES6+ JS</a:t>
            </a:r>
          </a:p>
          <a:p>
            <a:pPr algn="l">
              <a:lnSpc>
                <a:spcPts val="2063"/>
              </a:lnSpc>
            </a:pPr>
            <a:r>
              <a:rPr lang="en-US" sz="152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WebRTC (Camera Stream)</a:t>
            </a:r>
          </a:p>
          <a:p>
            <a:pPr algn="l">
              <a:lnSpc>
                <a:spcPts val="2063"/>
              </a:lnSpc>
            </a:pPr>
            <a:endParaRPr lang="en-US" sz="1528" b="1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3950171" y="4000525"/>
            <a:ext cx="3078013" cy="2171675"/>
            <a:chOff x="0" y="0"/>
            <a:chExt cx="5907694" cy="41681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907694" cy="4168140"/>
            </a:xfrm>
            <a:custGeom>
              <a:avLst/>
              <a:gdLst/>
              <a:ahLst/>
              <a:cxnLst/>
              <a:rect l="l" t="t" r="r" b="b"/>
              <a:pathLst>
                <a:path w="5907694" h="4168140">
                  <a:moveTo>
                    <a:pt x="218102" y="0"/>
                  </a:moveTo>
                  <a:lnTo>
                    <a:pt x="5689591" y="0"/>
                  </a:lnTo>
                  <a:cubicBezTo>
                    <a:pt x="5810046" y="0"/>
                    <a:pt x="5907694" y="97648"/>
                    <a:pt x="5907694" y="218102"/>
                  </a:cubicBezTo>
                  <a:lnTo>
                    <a:pt x="5907694" y="3950038"/>
                  </a:lnTo>
                  <a:cubicBezTo>
                    <a:pt x="5907694" y="4007882"/>
                    <a:pt x="5884715" y="4063357"/>
                    <a:pt x="5843813" y="4104260"/>
                  </a:cubicBezTo>
                  <a:cubicBezTo>
                    <a:pt x="5802911" y="4145162"/>
                    <a:pt x="5747436" y="4168140"/>
                    <a:pt x="5689591" y="4168140"/>
                  </a:cubicBezTo>
                  <a:lnTo>
                    <a:pt x="218102" y="4168140"/>
                  </a:lnTo>
                  <a:cubicBezTo>
                    <a:pt x="97648" y="4168140"/>
                    <a:pt x="0" y="4070493"/>
                    <a:pt x="0" y="3950038"/>
                  </a:cubicBezTo>
                  <a:lnTo>
                    <a:pt x="0" y="218102"/>
                  </a:lnTo>
                  <a:cubicBezTo>
                    <a:pt x="0" y="160258"/>
                    <a:pt x="22979" y="104783"/>
                    <a:pt x="63881" y="63881"/>
                  </a:cubicBezTo>
                  <a:cubicBezTo>
                    <a:pt x="104783" y="22979"/>
                    <a:pt x="160258" y="0"/>
                    <a:pt x="21810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907694" cy="4206240"/>
            </a:xfrm>
            <a:prstGeom prst="rect">
              <a:avLst/>
            </a:prstGeom>
          </p:spPr>
          <p:txBody>
            <a:bodyPr lIns="49273" tIns="49273" rIns="49273" bIns="49273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4136529" y="4117523"/>
            <a:ext cx="2705297" cy="2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sz="131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DEVELOPMENT &amp; TESTING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36529" y="4488070"/>
            <a:ext cx="2705297" cy="77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Visual Studio Code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Git &amp; GitHub</a:t>
            </a:r>
          </a:p>
          <a:p>
            <a:pPr algn="l">
              <a:lnSpc>
                <a:spcPts val="2063"/>
              </a:lnSpc>
            </a:pPr>
            <a:endParaRPr lang="en-US" sz="1528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7214542" y="4000525"/>
            <a:ext cx="3078013" cy="2171675"/>
            <a:chOff x="0" y="0"/>
            <a:chExt cx="5907694" cy="41681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907694" cy="4168140"/>
            </a:xfrm>
            <a:custGeom>
              <a:avLst/>
              <a:gdLst/>
              <a:ahLst/>
              <a:cxnLst/>
              <a:rect l="l" t="t" r="r" b="b"/>
              <a:pathLst>
                <a:path w="5907694" h="4168140">
                  <a:moveTo>
                    <a:pt x="218102" y="0"/>
                  </a:moveTo>
                  <a:lnTo>
                    <a:pt x="5689591" y="0"/>
                  </a:lnTo>
                  <a:cubicBezTo>
                    <a:pt x="5810046" y="0"/>
                    <a:pt x="5907694" y="97648"/>
                    <a:pt x="5907694" y="218102"/>
                  </a:cubicBezTo>
                  <a:lnTo>
                    <a:pt x="5907694" y="3950038"/>
                  </a:lnTo>
                  <a:cubicBezTo>
                    <a:pt x="5907694" y="4007882"/>
                    <a:pt x="5884715" y="4063357"/>
                    <a:pt x="5843813" y="4104260"/>
                  </a:cubicBezTo>
                  <a:cubicBezTo>
                    <a:pt x="5802911" y="4145162"/>
                    <a:pt x="5747436" y="4168140"/>
                    <a:pt x="5689591" y="4168140"/>
                  </a:cubicBezTo>
                  <a:lnTo>
                    <a:pt x="218102" y="4168140"/>
                  </a:lnTo>
                  <a:cubicBezTo>
                    <a:pt x="97648" y="4168140"/>
                    <a:pt x="0" y="4070493"/>
                    <a:pt x="0" y="3950038"/>
                  </a:cubicBezTo>
                  <a:lnTo>
                    <a:pt x="0" y="218102"/>
                  </a:lnTo>
                  <a:cubicBezTo>
                    <a:pt x="0" y="160258"/>
                    <a:pt x="22979" y="104783"/>
                    <a:pt x="63881" y="63881"/>
                  </a:cubicBezTo>
                  <a:cubicBezTo>
                    <a:pt x="104783" y="22979"/>
                    <a:pt x="160258" y="0"/>
                    <a:pt x="21810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907694" cy="4206240"/>
            </a:xfrm>
            <a:prstGeom prst="rect">
              <a:avLst/>
            </a:prstGeom>
          </p:spPr>
          <p:txBody>
            <a:bodyPr lIns="49273" tIns="49273" rIns="49273" bIns="49273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400900" y="4117523"/>
            <a:ext cx="2705297" cy="2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sz="131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REGULATORY STANDARDS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00900" y="4488070"/>
            <a:ext cx="2705297" cy="103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FDA Big 9 Guidelines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EU 14 Allergen FIC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CODEX Alimentarius</a:t>
            </a:r>
          </a:p>
          <a:p>
            <a:pPr algn="l">
              <a:lnSpc>
                <a:spcPts val="2063"/>
              </a:lnSpc>
            </a:pPr>
            <a:r>
              <a:rPr lang="en-US" sz="152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Glycemic Index 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23278" y="241793"/>
            <a:ext cx="2551764" cy="63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5"/>
              </a:lnSpc>
            </a:pPr>
            <a:r>
              <a:rPr lang="en-US" sz="4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46954" y="6477000"/>
            <a:ext cx="10876122" cy="624840"/>
            <a:chOff x="0" y="0"/>
            <a:chExt cx="14501496" cy="833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01496" cy="833120"/>
            </a:xfrm>
            <a:custGeom>
              <a:avLst/>
              <a:gdLst/>
              <a:ahLst/>
              <a:cxnLst/>
              <a:rect l="l" t="t" r="r" b="b"/>
              <a:pathLst>
                <a:path w="14501496" h="833120">
                  <a:moveTo>
                    <a:pt x="0" y="0"/>
                  </a:moveTo>
                  <a:lnTo>
                    <a:pt x="14501496" y="0"/>
                  </a:lnTo>
                  <a:lnTo>
                    <a:pt x="14501496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8844" r="-3884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21920" y="60960"/>
              <a:ext cx="14379576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 YEAR  I SEM                                                          Slide no 9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5686299" y="1439942"/>
            <a:ext cx="400815" cy="395006"/>
          </a:xfrm>
          <a:custGeom>
            <a:avLst/>
            <a:gdLst/>
            <a:ahLst/>
            <a:cxnLst/>
            <a:rect l="l" t="t" r="r" b="b"/>
            <a:pathLst>
              <a:path w="400815" h="395006">
                <a:moveTo>
                  <a:pt x="0" y="0"/>
                </a:moveTo>
                <a:lnTo>
                  <a:pt x="400815" y="0"/>
                </a:lnTo>
                <a:lnTo>
                  <a:pt x="400815" y="395006"/>
                </a:lnTo>
                <a:lnTo>
                  <a:pt x="0" y="395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165231" y="1701343"/>
            <a:ext cx="5576557" cy="656407"/>
          </a:xfrm>
          <a:custGeom>
            <a:avLst/>
            <a:gdLst/>
            <a:ahLst/>
            <a:cxnLst/>
            <a:rect l="l" t="t" r="r" b="b"/>
            <a:pathLst>
              <a:path w="5576557" h="656407">
                <a:moveTo>
                  <a:pt x="0" y="0"/>
                </a:moveTo>
                <a:lnTo>
                  <a:pt x="5576557" y="0"/>
                </a:lnTo>
                <a:lnTo>
                  <a:pt x="5576557" y="656407"/>
                </a:lnTo>
                <a:lnTo>
                  <a:pt x="0" y="6564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045471" y="1928168"/>
            <a:ext cx="1718596" cy="20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1. User Authentication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5686299" y="2224145"/>
            <a:ext cx="267210" cy="395006"/>
          </a:xfrm>
          <a:custGeom>
            <a:avLst/>
            <a:gdLst/>
            <a:ahLst/>
            <a:cxnLst/>
            <a:rect l="l" t="t" r="r" b="b"/>
            <a:pathLst>
              <a:path w="267210" h="395006">
                <a:moveTo>
                  <a:pt x="0" y="0"/>
                </a:moveTo>
                <a:lnTo>
                  <a:pt x="267210" y="0"/>
                </a:lnTo>
                <a:lnTo>
                  <a:pt x="267210" y="395007"/>
                </a:lnTo>
                <a:lnTo>
                  <a:pt x="0" y="3950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165231" y="2485547"/>
            <a:ext cx="5576557" cy="656407"/>
          </a:xfrm>
          <a:custGeom>
            <a:avLst/>
            <a:gdLst/>
            <a:ahLst/>
            <a:cxnLst/>
            <a:rect l="l" t="t" r="r" b="b"/>
            <a:pathLst>
              <a:path w="5576557" h="656407">
                <a:moveTo>
                  <a:pt x="0" y="0"/>
                </a:moveTo>
                <a:lnTo>
                  <a:pt x="5576557" y="0"/>
                </a:lnTo>
                <a:lnTo>
                  <a:pt x="5576557" y="656407"/>
                </a:lnTo>
                <a:lnTo>
                  <a:pt x="0" y="6564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622794" y="2571459"/>
            <a:ext cx="4563950" cy="41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2. Health Profile → Select Allergies (Nuts, Milk), Conditions (Diabetes), Diets (Vegan)</a:t>
            </a:r>
          </a:p>
        </p:txBody>
      </p:sp>
      <p:sp>
        <p:nvSpPr>
          <p:cNvPr id="16" name="Freeform 16"/>
          <p:cNvSpPr/>
          <p:nvPr/>
        </p:nvSpPr>
        <p:spPr>
          <a:xfrm>
            <a:off x="5686299" y="3008349"/>
            <a:ext cx="267210" cy="261401"/>
          </a:xfrm>
          <a:custGeom>
            <a:avLst/>
            <a:gdLst/>
            <a:ahLst/>
            <a:cxnLst/>
            <a:rect l="l" t="t" r="r" b="b"/>
            <a:pathLst>
              <a:path w="267210" h="261401">
                <a:moveTo>
                  <a:pt x="0" y="0"/>
                </a:moveTo>
                <a:lnTo>
                  <a:pt x="267210" y="0"/>
                </a:lnTo>
                <a:lnTo>
                  <a:pt x="267210" y="261401"/>
                </a:lnTo>
                <a:lnTo>
                  <a:pt x="0" y="2614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165231" y="3136145"/>
            <a:ext cx="5576557" cy="656407"/>
          </a:xfrm>
          <a:custGeom>
            <a:avLst/>
            <a:gdLst/>
            <a:ahLst/>
            <a:cxnLst/>
            <a:rect l="l" t="t" r="r" b="b"/>
            <a:pathLst>
              <a:path w="5576557" h="656407">
                <a:moveTo>
                  <a:pt x="0" y="0"/>
                </a:moveTo>
                <a:lnTo>
                  <a:pt x="5576557" y="0"/>
                </a:lnTo>
                <a:lnTo>
                  <a:pt x="5576557" y="656407"/>
                </a:lnTo>
                <a:lnTo>
                  <a:pt x="0" y="6564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064083" y="3398549"/>
            <a:ext cx="1681372" cy="20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3. Food Label Capture</a:t>
            </a:r>
          </a:p>
        </p:txBody>
      </p:sp>
      <p:sp>
        <p:nvSpPr>
          <p:cNvPr id="19" name="Freeform 19"/>
          <p:cNvSpPr/>
          <p:nvPr/>
        </p:nvSpPr>
        <p:spPr>
          <a:xfrm>
            <a:off x="5686299" y="3658947"/>
            <a:ext cx="267210" cy="395006"/>
          </a:xfrm>
          <a:custGeom>
            <a:avLst/>
            <a:gdLst/>
            <a:ahLst/>
            <a:cxnLst/>
            <a:rect l="l" t="t" r="r" b="b"/>
            <a:pathLst>
              <a:path w="267210" h="395006">
                <a:moveTo>
                  <a:pt x="0" y="0"/>
                </a:moveTo>
                <a:lnTo>
                  <a:pt x="267210" y="0"/>
                </a:lnTo>
                <a:lnTo>
                  <a:pt x="267210" y="395006"/>
                </a:lnTo>
                <a:lnTo>
                  <a:pt x="0" y="3950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165231" y="3920348"/>
            <a:ext cx="5576557" cy="656407"/>
          </a:xfrm>
          <a:custGeom>
            <a:avLst/>
            <a:gdLst/>
            <a:ahLst/>
            <a:cxnLst/>
            <a:rect l="l" t="t" r="r" b="b"/>
            <a:pathLst>
              <a:path w="5576557" h="656407">
                <a:moveTo>
                  <a:pt x="0" y="0"/>
                </a:moveTo>
                <a:lnTo>
                  <a:pt x="5576557" y="0"/>
                </a:lnTo>
                <a:lnTo>
                  <a:pt x="5576557" y="656407"/>
                </a:lnTo>
                <a:lnTo>
                  <a:pt x="0" y="656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053424" y="4005081"/>
            <a:ext cx="3702691" cy="41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4. Computer Vision+OCR → OpenCV deskews &amp; </a:t>
            </a:r>
          </a:p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enhances → Tesseract extracts text</a:t>
            </a:r>
          </a:p>
        </p:txBody>
      </p:sp>
      <p:sp>
        <p:nvSpPr>
          <p:cNvPr id="22" name="Freeform 22"/>
          <p:cNvSpPr/>
          <p:nvPr/>
        </p:nvSpPr>
        <p:spPr>
          <a:xfrm>
            <a:off x="5686299" y="4443150"/>
            <a:ext cx="267210" cy="395006"/>
          </a:xfrm>
          <a:custGeom>
            <a:avLst/>
            <a:gdLst/>
            <a:ahLst/>
            <a:cxnLst/>
            <a:rect l="l" t="t" r="r" b="b"/>
            <a:pathLst>
              <a:path w="267210" h="395006">
                <a:moveTo>
                  <a:pt x="0" y="0"/>
                </a:moveTo>
                <a:lnTo>
                  <a:pt x="267210" y="0"/>
                </a:lnTo>
                <a:lnTo>
                  <a:pt x="267210" y="395007"/>
                </a:lnTo>
                <a:lnTo>
                  <a:pt x="0" y="3950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165231" y="4704552"/>
            <a:ext cx="5448761" cy="656407"/>
          </a:xfrm>
          <a:custGeom>
            <a:avLst/>
            <a:gdLst/>
            <a:ahLst/>
            <a:cxnLst/>
            <a:rect l="l" t="t" r="r" b="b"/>
            <a:pathLst>
              <a:path w="5448761" h="656407">
                <a:moveTo>
                  <a:pt x="0" y="0"/>
                </a:moveTo>
                <a:lnTo>
                  <a:pt x="5448761" y="0"/>
                </a:lnTo>
                <a:lnTo>
                  <a:pt x="5448761" y="656407"/>
                </a:lnTo>
                <a:lnTo>
                  <a:pt x="0" y="6564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851066" y="4804601"/>
            <a:ext cx="4107406" cy="41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5. Rule Engine Match → Matches ingredients against </a:t>
            </a:r>
          </a:p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user profile</a:t>
            </a:r>
          </a:p>
        </p:txBody>
      </p:sp>
      <p:sp>
        <p:nvSpPr>
          <p:cNvPr id="25" name="Freeform 25"/>
          <p:cNvSpPr/>
          <p:nvPr/>
        </p:nvSpPr>
        <p:spPr>
          <a:xfrm>
            <a:off x="5686299" y="5227354"/>
            <a:ext cx="267210" cy="395006"/>
          </a:xfrm>
          <a:custGeom>
            <a:avLst/>
            <a:gdLst/>
            <a:ahLst/>
            <a:cxnLst/>
            <a:rect l="l" t="t" r="r" b="b"/>
            <a:pathLst>
              <a:path w="267210" h="395006">
                <a:moveTo>
                  <a:pt x="0" y="0"/>
                </a:moveTo>
                <a:lnTo>
                  <a:pt x="267210" y="0"/>
                </a:lnTo>
                <a:lnTo>
                  <a:pt x="267210" y="395006"/>
                </a:lnTo>
                <a:lnTo>
                  <a:pt x="0" y="3950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3165231" y="5488755"/>
            <a:ext cx="5448761" cy="656407"/>
          </a:xfrm>
          <a:custGeom>
            <a:avLst/>
            <a:gdLst/>
            <a:ahLst/>
            <a:cxnLst/>
            <a:rect l="l" t="t" r="r" b="b"/>
            <a:pathLst>
              <a:path w="5448761" h="656407">
                <a:moveTo>
                  <a:pt x="0" y="0"/>
                </a:moveTo>
                <a:lnTo>
                  <a:pt x="5448761" y="0"/>
                </a:lnTo>
                <a:lnTo>
                  <a:pt x="5448761" y="656407"/>
                </a:lnTo>
                <a:lnTo>
                  <a:pt x="0" y="6564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4084138" y="5558171"/>
            <a:ext cx="3641261" cy="41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6. Explaniable Verdict → Displays 🟢 SAFE / 🟡</a:t>
            </a:r>
          </a:p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CAUTION / 🛑 AVOID + Safe Alternatives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50251" y="1238926"/>
            <a:ext cx="2909037" cy="20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286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[START] User opens NutriLens AI Web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" y="330013"/>
            <a:ext cx="2423160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Execution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5514" y="6400800"/>
            <a:ext cx="10967562" cy="624840"/>
            <a:chOff x="0" y="0"/>
            <a:chExt cx="14623416" cy="833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23416" cy="833120"/>
            </a:xfrm>
            <a:custGeom>
              <a:avLst/>
              <a:gdLst/>
              <a:ahLst/>
              <a:cxnLst/>
              <a:rect l="l" t="t" r="r" b="b"/>
              <a:pathLst>
                <a:path w="14623416" h="833120">
                  <a:moveTo>
                    <a:pt x="0" y="0"/>
                  </a:moveTo>
                  <a:lnTo>
                    <a:pt x="14623416" y="0"/>
                  </a:lnTo>
                  <a:lnTo>
                    <a:pt x="14623416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8103" r="-381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21920" y="60960"/>
              <a:ext cx="14501496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 YEAR  I SEM                                                          Slide no 10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85800" y="1845810"/>
            <a:ext cx="4517862" cy="3378221"/>
          </a:xfrm>
          <a:custGeom>
            <a:avLst/>
            <a:gdLst/>
            <a:ahLst/>
            <a:cxnLst/>
            <a:rect l="l" t="t" r="r" b="b"/>
            <a:pathLst>
              <a:path w="4517862" h="3378221">
                <a:moveTo>
                  <a:pt x="0" y="0"/>
                </a:moveTo>
                <a:lnTo>
                  <a:pt x="4517862" y="0"/>
                </a:lnTo>
                <a:lnTo>
                  <a:pt x="4517862" y="3378221"/>
                </a:lnTo>
                <a:lnTo>
                  <a:pt x="0" y="3378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747653" y="2065000"/>
            <a:ext cx="5105601" cy="3159031"/>
          </a:xfrm>
          <a:custGeom>
            <a:avLst/>
            <a:gdLst/>
            <a:ahLst/>
            <a:cxnLst/>
            <a:rect l="l" t="t" r="r" b="b"/>
            <a:pathLst>
              <a:path w="5105601" h="3159031">
                <a:moveTo>
                  <a:pt x="0" y="0"/>
                </a:moveTo>
                <a:lnTo>
                  <a:pt x="5105601" y="0"/>
                </a:lnTo>
                <a:lnTo>
                  <a:pt x="5105601" y="3159031"/>
                </a:lnTo>
                <a:lnTo>
                  <a:pt x="0" y="3159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" y="330013"/>
            <a:ext cx="483893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Execution-user profile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5514" y="6400800"/>
            <a:ext cx="10967562" cy="624840"/>
            <a:chOff x="0" y="0"/>
            <a:chExt cx="14623416" cy="833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23416" cy="833120"/>
            </a:xfrm>
            <a:custGeom>
              <a:avLst/>
              <a:gdLst/>
              <a:ahLst/>
              <a:cxnLst/>
              <a:rect l="l" t="t" r="r" b="b"/>
              <a:pathLst>
                <a:path w="14623416" h="833120">
                  <a:moveTo>
                    <a:pt x="0" y="0"/>
                  </a:moveTo>
                  <a:lnTo>
                    <a:pt x="14623416" y="0"/>
                  </a:lnTo>
                  <a:lnTo>
                    <a:pt x="14623416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8103" r="-381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21920" y="60960"/>
              <a:ext cx="14501496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 YEAR  I SEM                                                          Slide no 11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989385" y="1499834"/>
            <a:ext cx="5167113" cy="4350270"/>
          </a:xfrm>
          <a:custGeom>
            <a:avLst/>
            <a:gdLst/>
            <a:ahLst/>
            <a:cxnLst/>
            <a:rect l="l" t="t" r="r" b="b"/>
            <a:pathLst>
              <a:path w="5167113" h="4350270">
                <a:moveTo>
                  <a:pt x="0" y="0"/>
                </a:moveTo>
                <a:lnTo>
                  <a:pt x="5167112" y="0"/>
                </a:lnTo>
                <a:lnTo>
                  <a:pt x="5167112" y="4350270"/>
                </a:lnTo>
                <a:lnTo>
                  <a:pt x="0" y="4350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72149" y="252233"/>
            <a:ext cx="638984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Execution-After Regestration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5514" y="6400800"/>
            <a:ext cx="10967562" cy="624840"/>
            <a:chOff x="0" y="0"/>
            <a:chExt cx="14623416" cy="833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23416" cy="833120"/>
            </a:xfrm>
            <a:custGeom>
              <a:avLst/>
              <a:gdLst/>
              <a:ahLst/>
              <a:cxnLst/>
              <a:rect l="l" t="t" r="r" b="b"/>
              <a:pathLst>
                <a:path w="14623416" h="833120">
                  <a:moveTo>
                    <a:pt x="0" y="0"/>
                  </a:moveTo>
                  <a:lnTo>
                    <a:pt x="14623416" y="0"/>
                  </a:lnTo>
                  <a:lnTo>
                    <a:pt x="14623416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8103" r="-381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21920" y="60960"/>
              <a:ext cx="14501496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 YEAR  I SEM                                                          Slide no 12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637692" y="1355496"/>
            <a:ext cx="5757366" cy="4832447"/>
          </a:xfrm>
          <a:custGeom>
            <a:avLst/>
            <a:gdLst/>
            <a:ahLst/>
            <a:cxnLst/>
            <a:rect l="l" t="t" r="r" b="b"/>
            <a:pathLst>
              <a:path w="5757366" h="4832447">
                <a:moveTo>
                  <a:pt x="0" y="0"/>
                </a:moveTo>
                <a:lnTo>
                  <a:pt x="5757367" y="0"/>
                </a:lnTo>
                <a:lnTo>
                  <a:pt x="5757367" y="4832447"/>
                </a:lnTo>
                <a:lnTo>
                  <a:pt x="0" y="48324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93" r="-1493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72148" y="252233"/>
            <a:ext cx="1885251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5514" y="6400800"/>
            <a:ext cx="10967562" cy="624840"/>
            <a:chOff x="0" y="0"/>
            <a:chExt cx="14623416" cy="833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23416" cy="833120"/>
            </a:xfrm>
            <a:custGeom>
              <a:avLst/>
              <a:gdLst/>
              <a:ahLst/>
              <a:cxnLst/>
              <a:rect l="l" t="t" r="r" b="b"/>
              <a:pathLst>
                <a:path w="14623416" h="833120">
                  <a:moveTo>
                    <a:pt x="0" y="0"/>
                  </a:moveTo>
                  <a:lnTo>
                    <a:pt x="14623416" y="0"/>
                  </a:lnTo>
                  <a:lnTo>
                    <a:pt x="14623416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8103" r="-381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21920" y="60960"/>
              <a:ext cx="14501496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 YEAR  I SEM                                                          Slide no 13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3136058" y="2086016"/>
            <a:ext cx="3658490" cy="3024528"/>
          </a:xfrm>
          <a:custGeom>
            <a:avLst/>
            <a:gdLst/>
            <a:ahLst/>
            <a:cxnLst/>
            <a:rect l="l" t="t" r="r" b="b"/>
            <a:pathLst>
              <a:path w="3658490" h="3024528">
                <a:moveTo>
                  <a:pt x="0" y="0"/>
                </a:moveTo>
                <a:lnTo>
                  <a:pt x="3658491" y="0"/>
                </a:lnTo>
                <a:lnTo>
                  <a:pt x="3658491" y="3024528"/>
                </a:lnTo>
                <a:lnTo>
                  <a:pt x="0" y="3024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32164" y="2124010"/>
            <a:ext cx="4293129" cy="2948542"/>
          </a:xfrm>
          <a:custGeom>
            <a:avLst/>
            <a:gdLst/>
            <a:ahLst/>
            <a:cxnLst/>
            <a:rect l="l" t="t" r="r" b="b"/>
            <a:pathLst>
              <a:path w="4293129" h="2948542">
                <a:moveTo>
                  <a:pt x="0" y="0"/>
                </a:moveTo>
                <a:lnTo>
                  <a:pt x="4293129" y="0"/>
                </a:lnTo>
                <a:lnTo>
                  <a:pt x="4293129" y="2948541"/>
                </a:lnTo>
                <a:lnTo>
                  <a:pt x="0" y="2948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257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50161" y="2969357"/>
            <a:ext cx="2885898" cy="1257848"/>
          </a:xfrm>
          <a:custGeom>
            <a:avLst/>
            <a:gdLst/>
            <a:ahLst/>
            <a:cxnLst/>
            <a:rect l="l" t="t" r="r" b="b"/>
            <a:pathLst>
              <a:path w="2885898" h="1257848">
                <a:moveTo>
                  <a:pt x="0" y="0"/>
                </a:moveTo>
                <a:lnTo>
                  <a:pt x="2885897" y="0"/>
                </a:lnTo>
                <a:lnTo>
                  <a:pt x="2885897" y="1257847"/>
                </a:lnTo>
                <a:lnTo>
                  <a:pt x="0" y="12578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50161" y="2461168"/>
            <a:ext cx="2465865" cy="349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994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Input Image</a:t>
            </a:r>
          </a:p>
        </p:txBody>
      </p:sp>
      <p:sp>
        <p:nvSpPr>
          <p:cNvPr id="14" name="AutoShape 14"/>
          <p:cNvSpPr/>
          <p:nvPr/>
        </p:nvSpPr>
        <p:spPr>
          <a:xfrm>
            <a:off x="250161" y="2840650"/>
            <a:ext cx="672359" cy="0"/>
          </a:xfrm>
          <a:prstGeom prst="line">
            <a:avLst/>
          </a:prstGeom>
          <a:ln w="47625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72148" y="252233"/>
            <a:ext cx="2799651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5514" y="6400800"/>
            <a:ext cx="10967562" cy="624840"/>
            <a:chOff x="0" y="0"/>
            <a:chExt cx="14623416" cy="833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23416" cy="833120"/>
            </a:xfrm>
            <a:custGeom>
              <a:avLst/>
              <a:gdLst/>
              <a:ahLst/>
              <a:cxnLst/>
              <a:rect l="l" t="t" r="r" b="b"/>
              <a:pathLst>
                <a:path w="14623416" h="833120">
                  <a:moveTo>
                    <a:pt x="0" y="0"/>
                  </a:moveTo>
                  <a:lnTo>
                    <a:pt x="14623416" y="0"/>
                  </a:lnTo>
                  <a:lnTo>
                    <a:pt x="14623416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8103" r="-381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21920" y="60960"/>
              <a:ext cx="14501496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 YEAR  I SEM                                                          Slide no 14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16884" y="1602624"/>
            <a:ext cx="9365032" cy="336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083" lvl="1" indent="-266542" algn="l">
              <a:lnSpc>
                <a:spcPts val="3333"/>
              </a:lnSpc>
              <a:spcBef>
                <a:spcPct val="0"/>
              </a:spcBef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Automated Food Label Analysis: Converts fine-print packaging into clear text using OpenCV &amp; Tesseract OCR.</a:t>
            </a:r>
          </a:p>
          <a:p>
            <a:pPr algn="l">
              <a:lnSpc>
                <a:spcPts val="3333"/>
              </a:lnSpc>
              <a:spcBef>
                <a:spcPct val="0"/>
              </a:spcBef>
            </a:pPr>
            <a:endParaRPr lang="en-US" sz="246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33083" lvl="1" indent="-266542" algn="l">
              <a:lnSpc>
                <a:spcPts val="3333"/>
              </a:lnSpc>
              <a:spcBef>
                <a:spcPct val="0"/>
              </a:spcBef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Reliable &amp; Zero Hallucination: Deterministic rule engine cross-referenced against 2,500+ verified ingredients.</a:t>
            </a:r>
          </a:p>
          <a:p>
            <a:pPr algn="l">
              <a:lnSpc>
                <a:spcPts val="3333"/>
              </a:lnSpc>
              <a:spcBef>
                <a:spcPct val="0"/>
              </a:spcBef>
            </a:pPr>
            <a:endParaRPr lang="en-US" sz="246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33083" lvl="1" indent="-266542" algn="l">
              <a:lnSpc>
                <a:spcPts val="3333"/>
              </a:lnSpc>
              <a:spcBef>
                <a:spcPct val="0"/>
              </a:spcBef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Instant Results: Delivers personalized verdicts (SAFE / CAUTION / AVOID) in under 2 seconds.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282440" y="3017520"/>
            <a:ext cx="3104940" cy="554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Questions????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5514" y="6477000"/>
            <a:ext cx="10967562" cy="624840"/>
            <a:chOff x="0" y="0"/>
            <a:chExt cx="14623416" cy="833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23416" cy="833120"/>
            </a:xfrm>
            <a:custGeom>
              <a:avLst/>
              <a:gdLst/>
              <a:ahLst/>
              <a:cxnLst/>
              <a:rect l="l" t="t" r="r" b="b"/>
              <a:pathLst>
                <a:path w="14623416" h="833120">
                  <a:moveTo>
                    <a:pt x="0" y="0"/>
                  </a:moveTo>
                  <a:lnTo>
                    <a:pt x="14623416" y="0"/>
                  </a:lnTo>
                  <a:lnTo>
                    <a:pt x="14623416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8103" r="-381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21920" y="60960"/>
              <a:ext cx="14501496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https://spechyd.ac.in/                                                     CSE(AIML) II YEAR  I SEM                                                          Slide no 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1788" y="0"/>
            <a:ext cx="2667000" cy="1142638"/>
            <a:chOff x="0" y="0"/>
            <a:chExt cx="3556000" cy="1523517"/>
          </a:xfrm>
        </p:grpSpPr>
        <p:sp>
          <p:nvSpPr>
            <p:cNvPr id="3" name="Freeform 3" descr="A logo for a college  AI-generated content may be incorrect."/>
            <p:cNvSpPr/>
            <p:nvPr/>
          </p:nvSpPr>
          <p:spPr>
            <a:xfrm>
              <a:off x="0" y="0"/>
              <a:ext cx="3556000" cy="1523492"/>
            </a:xfrm>
            <a:custGeom>
              <a:avLst/>
              <a:gdLst/>
              <a:ahLst/>
              <a:cxnLst/>
              <a:rect l="l" t="t" r="r" b="b"/>
              <a:pathLst>
                <a:path w="3556000" h="1523492">
                  <a:moveTo>
                    <a:pt x="0" y="0"/>
                  </a:moveTo>
                  <a:lnTo>
                    <a:pt x="3556000" y="0"/>
                  </a:lnTo>
                  <a:lnTo>
                    <a:pt x="3556000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50" t="-51632" r="-13164" b="-140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60" y="1"/>
            <a:ext cx="8741788" cy="1142638"/>
            <a:chOff x="0" y="0"/>
            <a:chExt cx="11655717" cy="152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5679" cy="1523492"/>
            </a:xfrm>
            <a:custGeom>
              <a:avLst/>
              <a:gdLst/>
              <a:ahLst/>
              <a:cxnLst/>
              <a:rect l="l" t="t" r="r" b="b"/>
              <a:pathLst>
                <a:path w="11655679" h="1523492">
                  <a:moveTo>
                    <a:pt x="0" y="0"/>
                  </a:moveTo>
                  <a:lnTo>
                    <a:pt x="11655679" y="0"/>
                  </a:lnTo>
                  <a:lnTo>
                    <a:pt x="11655679" y="1523492"/>
                  </a:lnTo>
                  <a:lnTo>
                    <a:pt x="0" y="152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260" b="-131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76200" y="-38100"/>
            <a:ext cx="11506200" cy="6896100"/>
            <a:chOff x="0" y="0"/>
            <a:chExt cx="15341600" cy="9194800"/>
          </a:xfrm>
        </p:grpSpPr>
        <p:sp>
          <p:nvSpPr>
            <p:cNvPr id="7" name="Freeform 7" descr="A blue and white thank you card  AI-generated content may be incorrect."/>
            <p:cNvSpPr/>
            <p:nvPr/>
          </p:nvSpPr>
          <p:spPr>
            <a:xfrm>
              <a:off x="0" y="0"/>
              <a:ext cx="15341600" cy="9194800"/>
            </a:xfrm>
            <a:custGeom>
              <a:avLst/>
              <a:gdLst/>
              <a:ahLst/>
              <a:cxnLst/>
              <a:rect l="l" t="t" r="r" b="b"/>
              <a:pathLst>
                <a:path w="15341600" h="9194800">
                  <a:moveTo>
                    <a:pt x="0" y="0"/>
                  </a:moveTo>
                  <a:lnTo>
                    <a:pt x="15341600" y="0"/>
                  </a:lnTo>
                  <a:lnTo>
                    <a:pt x="15341600" y="9194800"/>
                  </a:lnTo>
                  <a:lnTo>
                    <a:pt x="0" y="919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74" r="-327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917</Words>
  <Application>Microsoft Office PowerPoint</Application>
  <PresentationFormat>Custom</PresentationFormat>
  <Paragraphs>126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Roboto Bold</vt:lpstr>
      <vt:lpstr>Aptos</vt:lpstr>
      <vt:lpstr>Canva Sans</vt:lpstr>
      <vt:lpstr>Roboto</vt:lpstr>
      <vt:lpstr>Cloud</vt:lpstr>
      <vt:lpstr>Calibri</vt:lpstr>
      <vt:lpstr>Arial</vt:lpstr>
      <vt:lpstr>Cloud Bold</vt:lpstr>
      <vt:lpstr>Aptos Bold</vt:lpstr>
      <vt:lpstr>League Spartan</vt:lpstr>
      <vt:lpstr>Times New Roman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NEWS SUMMERIZER 1.pptx</dc:title>
  <cp:lastModifiedBy>_.chintuuu ___1816</cp:lastModifiedBy>
  <cp:revision>2</cp:revision>
  <dcterms:created xsi:type="dcterms:W3CDTF">2006-08-16T00:00:00Z</dcterms:created>
  <dcterms:modified xsi:type="dcterms:W3CDTF">2026-10-27T10:19:42Z</dcterms:modified>
  <dc:identifier>DAHZCbDqZ5E</dc:identifier>
</cp:coreProperties>
</file>