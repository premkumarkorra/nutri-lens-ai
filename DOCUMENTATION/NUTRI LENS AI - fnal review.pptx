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PT Serif" panose="020A0603040505020204" pitchFamily="18" charset="0"/>
      <p:regular r:id="rId15"/>
    </p:embeddedFont>
    <p:embeddedFont>
      <p:font typeface="Roboto" panose="02000000000000000000" pitchFamily="2" charset="0"/>
      <p:regular r:id="rId16"/>
    </p:embeddedFont>
    <p:embeddedFont>
      <p:font typeface="Roboto Bold" panose="020B0604020202020204" charset="0"/>
      <p:regular r:id="rId17"/>
    </p:embeddedFont>
    <p:embeddedFont>
      <p:font typeface="Roboto Condensed" panose="02000000000000000000" pitchFamily="2" charset="0"/>
      <p:regular r:id="rId18"/>
    </p:embeddedFont>
    <p:embeddedFont>
      <p:font typeface="Roboto Condensed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98642" y="5608003"/>
            <a:ext cx="2735716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3632833" y="255539"/>
            <a:ext cx="10612228" cy="2182861"/>
          </a:xfrm>
          <a:custGeom>
            <a:avLst/>
            <a:gdLst/>
            <a:ahLst/>
            <a:cxnLst/>
            <a:rect l="l" t="t" r="r" b="b"/>
            <a:pathLst>
              <a:path w="10612228" h="2182861">
                <a:moveTo>
                  <a:pt x="0" y="0"/>
                </a:moveTo>
                <a:lnTo>
                  <a:pt x="10612228" y="0"/>
                </a:lnTo>
                <a:lnTo>
                  <a:pt x="10612228" y="2182861"/>
                </a:lnTo>
                <a:lnTo>
                  <a:pt x="0" y="2182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750" b="-2647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30261" y="2074991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98642" y="3076575"/>
            <a:ext cx="10080610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 b="1" spc="-480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NUTRI</a:t>
            </a:r>
            <a:r>
              <a:rPr lang="en-US" sz="12000" b="1" spc="-48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LENS AI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10684" y="6523786"/>
            <a:ext cx="5039251" cy="439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2558" spc="255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[24BK1A66BM]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98642" y="6474778"/>
            <a:ext cx="433722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KORRA PREM KUMAR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10684" y="7175558"/>
            <a:ext cx="5039251" cy="439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2558" spc="255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[24BK1A66BX]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98642" y="7126550"/>
            <a:ext cx="433722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NIRANJAN SINGH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10684" y="7827703"/>
            <a:ext cx="5039251" cy="439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2558" spc="255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[24BK1A66CH]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98642" y="7778694"/>
            <a:ext cx="433722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PRINCE PATEL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9302" b="-3930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66775" y="2143125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56055" y="1141381"/>
            <a:ext cx="6192902" cy="70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5277" b="1" spc="-21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Domain of the Project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1635" y="3627561"/>
            <a:ext cx="3826066" cy="57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7"/>
              </a:lnSpc>
            </a:pPr>
            <a:r>
              <a:rPr lang="en-US" sz="4397" b="1" spc="-176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Primary domain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96113" y="4824775"/>
            <a:ext cx="14750332" cy="56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7078" lvl="1" indent="-358539" algn="l">
              <a:lnSpc>
                <a:spcPts val="4652"/>
              </a:lnSpc>
              <a:buFont typeface="Arial"/>
              <a:buChar char="•"/>
            </a:pPr>
            <a:r>
              <a:rPr lang="en-US" sz="3322" b="1" spc="266">
                <a:solidFill>
                  <a:srgbClr val="FF8F82"/>
                </a:solidFill>
                <a:latin typeface="Roboto Bold"/>
                <a:ea typeface="Roboto Bold"/>
                <a:cs typeface="Roboto Bold"/>
                <a:sym typeface="Roboto Bold"/>
              </a:rPr>
              <a:t>ARTIFICIAL INTELLIGENCE (AI) AND MACHINE LEARNING (ML)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84668" y="6024200"/>
            <a:ext cx="12718400" cy="904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sz="2612" spc="26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AI/ML ENABLES NUTRI LENS  AI TO ANALYZE FOOD INGREDIENTS AND RECOMMEND HEALTHIER FOOD CHOICES.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6653205" y="8745855"/>
            <a:ext cx="606095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id="4" name="Freeform 4"/>
          <p:cNvSpPr/>
          <p:nvPr/>
        </p:nvSpPr>
        <p:spPr>
          <a:xfrm>
            <a:off x="10020300" y="0"/>
            <a:ext cx="8058150" cy="10411994"/>
          </a:xfrm>
          <a:custGeom>
            <a:avLst/>
            <a:gdLst/>
            <a:ahLst/>
            <a:cxnLst/>
            <a:rect l="l" t="t" r="r" b="b"/>
            <a:pathLst>
              <a:path w="8058150" h="10411994">
                <a:moveTo>
                  <a:pt x="0" y="0"/>
                </a:moveTo>
                <a:lnTo>
                  <a:pt x="8058150" y="0"/>
                </a:lnTo>
                <a:lnTo>
                  <a:pt x="8058150" y="10411994"/>
                </a:lnTo>
                <a:lnTo>
                  <a:pt x="0" y="10411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7" r="-60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448925" y="1285875"/>
            <a:ext cx="2400300" cy="2362200"/>
          </a:xfrm>
          <a:custGeom>
            <a:avLst/>
            <a:gdLst/>
            <a:ahLst/>
            <a:cxnLst/>
            <a:rect l="l" t="t" r="r" b="b"/>
            <a:pathLst>
              <a:path w="2400300" h="2362200">
                <a:moveTo>
                  <a:pt x="0" y="0"/>
                </a:moveTo>
                <a:lnTo>
                  <a:pt x="2400300" y="0"/>
                </a:lnTo>
                <a:lnTo>
                  <a:pt x="2400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668000" y="1714500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801850" y="857250"/>
            <a:ext cx="3276600" cy="3429000"/>
          </a:xfrm>
          <a:custGeom>
            <a:avLst/>
            <a:gdLst/>
            <a:ahLst/>
            <a:cxnLst/>
            <a:rect l="l" t="t" r="r" b="b"/>
            <a:pathLst>
              <a:path w="3276600" h="3429000">
                <a:moveTo>
                  <a:pt x="0" y="0"/>
                </a:moveTo>
                <a:lnTo>
                  <a:pt x="3276600" y="0"/>
                </a:lnTo>
                <a:lnTo>
                  <a:pt x="32766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668625" y="1495425"/>
            <a:ext cx="1752600" cy="2362200"/>
          </a:xfrm>
          <a:custGeom>
            <a:avLst/>
            <a:gdLst/>
            <a:ahLst/>
            <a:cxnLst/>
            <a:rect l="l" t="t" r="r" b="b"/>
            <a:pathLst>
              <a:path w="1752600" h="2362200">
                <a:moveTo>
                  <a:pt x="0" y="0"/>
                </a:moveTo>
                <a:lnTo>
                  <a:pt x="1752600" y="0"/>
                </a:lnTo>
                <a:lnTo>
                  <a:pt x="1752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448925" y="4924425"/>
            <a:ext cx="2400300" cy="2581275"/>
          </a:xfrm>
          <a:custGeom>
            <a:avLst/>
            <a:gdLst/>
            <a:ahLst/>
            <a:cxnLst/>
            <a:rect l="l" t="t" r="r" b="b"/>
            <a:pathLst>
              <a:path w="2400300" h="2581275">
                <a:moveTo>
                  <a:pt x="0" y="0"/>
                </a:moveTo>
                <a:lnTo>
                  <a:pt x="2400300" y="0"/>
                </a:lnTo>
                <a:lnTo>
                  <a:pt x="24003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668000" y="5572125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668000" y="6210300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668000" y="6858000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096625" y="6858000"/>
            <a:ext cx="666750" cy="428625"/>
          </a:xfrm>
          <a:custGeom>
            <a:avLst/>
            <a:gdLst/>
            <a:ahLst/>
            <a:cxnLst/>
            <a:rect l="l" t="t" r="r" b="b"/>
            <a:pathLst>
              <a:path w="666750" h="428625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753850" y="5572125"/>
            <a:ext cx="876300" cy="1714500"/>
          </a:xfrm>
          <a:custGeom>
            <a:avLst/>
            <a:gdLst/>
            <a:ahLst/>
            <a:cxnLst/>
            <a:rect l="l" t="t" r="r" b="b"/>
            <a:pathLst>
              <a:path w="876300" h="1714500">
                <a:moveTo>
                  <a:pt x="0" y="0"/>
                </a:moveTo>
                <a:lnTo>
                  <a:pt x="876300" y="0"/>
                </a:lnTo>
                <a:lnTo>
                  <a:pt x="8763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020925" y="4924425"/>
            <a:ext cx="3057525" cy="2790825"/>
          </a:xfrm>
          <a:custGeom>
            <a:avLst/>
            <a:gdLst/>
            <a:ahLst/>
            <a:cxnLst/>
            <a:rect l="l" t="t" r="r" b="b"/>
            <a:pathLst>
              <a:path w="3057525" h="2790825">
                <a:moveTo>
                  <a:pt x="0" y="0"/>
                </a:moveTo>
                <a:lnTo>
                  <a:pt x="3057525" y="0"/>
                </a:lnTo>
                <a:lnTo>
                  <a:pt x="30575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020925" y="621030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020925" y="7067550"/>
            <a:ext cx="1095375" cy="438150"/>
          </a:xfrm>
          <a:custGeom>
            <a:avLst/>
            <a:gdLst/>
            <a:ahLst/>
            <a:cxnLst/>
            <a:rect l="l" t="t" r="r" b="b"/>
            <a:pathLst>
              <a:path w="1095375" h="438150">
                <a:moveTo>
                  <a:pt x="0" y="0"/>
                </a:moveTo>
                <a:lnTo>
                  <a:pt x="1095375" y="0"/>
                </a:lnTo>
                <a:lnTo>
                  <a:pt x="1095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887700" y="6000750"/>
            <a:ext cx="1095375" cy="1504950"/>
          </a:xfrm>
          <a:custGeom>
            <a:avLst/>
            <a:gdLst/>
            <a:ahLst/>
            <a:cxnLst/>
            <a:rect l="l" t="t" r="r" b="b"/>
            <a:pathLst>
              <a:path w="1095375" h="1504950">
                <a:moveTo>
                  <a:pt x="0" y="0"/>
                </a:moveTo>
                <a:lnTo>
                  <a:pt x="1095375" y="0"/>
                </a:lnTo>
                <a:lnTo>
                  <a:pt x="1095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106775" y="6000750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106775" y="6210300"/>
            <a:ext cx="657225" cy="1076325"/>
          </a:xfrm>
          <a:custGeom>
            <a:avLst/>
            <a:gdLst/>
            <a:ahLst/>
            <a:cxnLst/>
            <a:rect l="l" t="t" r="r" b="b"/>
            <a:pathLst>
              <a:path w="657225" h="1076325">
                <a:moveTo>
                  <a:pt x="0" y="0"/>
                </a:moveTo>
                <a:lnTo>
                  <a:pt x="657225" y="0"/>
                </a:lnTo>
                <a:lnTo>
                  <a:pt x="657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6106775" y="7067550"/>
            <a:ext cx="876300" cy="438150"/>
          </a:xfrm>
          <a:custGeom>
            <a:avLst/>
            <a:gdLst/>
            <a:ahLst/>
            <a:cxnLst/>
            <a:rect l="l" t="t" r="r" b="b"/>
            <a:pathLst>
              <a:path w="876300" h="43815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6973550" y="6210300"/>
            <a:ext cx="885825" cy="1076325"/>
          </a:xfrm>
          <a:custGeom>
            <a:avLst/>
            <a:gdLst/>
            <a:ahLst/>
            <a:cxnLst/>
            <a:rect l="l" t="t" r="r" b="b"/>
            <a:pathLst>
              <a:path w="885825" h="1076325">
                <a:moveTo>
                  <a:pt x="0" y="0"/>
                </a:moveTo>
                <a:lnTo>
                  <a:pt x="885825" y="0"/>
                </a:lnTo>
                <a:lnTo>
                  <a:pt x="885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973550" y="7067550"/>
            <a:ext cx="885825" cy="438150"/>
          </a:xfrm>
          <a:custGeom>
            <a:avLst/>
            <a:gdLst/>
            <a:ahLst/>
            <a:cxnLst/>
            <a:rect l="l" t="t" r="r" b="b"/>
            <a:pathLst>
              <a:path w="885825" h="438150">
                <a:moveTo>
                  <a:pt x="0" y="0"/>
                </a:moveTo>
                <a:lnTo>
                  <a:pt x="885825" y="0"/>
                </a:lnTo>
                <a:lnTo>
                  <a:pt x="8858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5400000">
            <a:off x="7657250" y="1646161"/>
            <a:ext cx="10544310" cy="7011966"/>
          </a:xfrm>
          <a:custGeom>
            <a:avLst/>
            <a:gdLst/>
            <a:ahLst/>
            <a:cxnLst/>
            <a:rect l="l" t="t" r="r" b="b"/>
            <a:pathLst>
              <a:path w="10544310" h="7011966">
                <a:moveTo>
                  <a:pt x="0" y="0"/>
                </a:moveTo>
                <a:lnTo>
                  <a:pt x="10544309" y="0"/>
                </a:lnTo>
                <a:lnTo>
                  <a:pt x="10544309" y="7011966"/>
                </a:lnTo>
                <a:lnTo>
                  <a:pt x="0" y="70119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28700" y="904875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Domain of the project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3623958"/>
            <a:ext cx="593120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SECONDARY DOMAIN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1403" y="4511397"/>
            <a:ext cx="6958355" cy="438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205" lvl="1" indent="-227603" algn="l">
              <a:lnSpc>
                <a:spcPts val="3164"/>
              </a:lnSpc>
              <a:buFont typeface="Arial"/>
              <a:buChar char="•"/>
            </a:pPr>
            <a:r>
              <a:rPr lang="en-US" sz="2109" b="1" spc="168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NATURAL LANGUAGE PROCESSING (NLP):</a:t>
            </a:r>
            <a:r>
              <a:rPr lang="en-US" sz="2109" b="1" spc="168">
                <a:solidFill>
                  <a:srgbClr val="100F0F"/>
                </a:solidFill>
                <a:latin typeface="Roboto Bold"/>
                <a:ea typeface="Roboto Bold"/>
                <a:cs typeface="Roboto Bold"/>
                <a:sym typeface="Roboto Bold"/>
              </a:rPr>
              <a:t> TO ANALYZE INGREDIENTS AND GENERATE UNDERSTANDABLE EXPLANATIONS.</a:t>
            </a:r>
          </a:p>
          <a:p>
            <a:pPr marL="455205" lvl="1" indent="-227603" algn="l">
              <a:lnSpc>
                <a:spcPts val="3164"/>
              </a:lnSpc>
              <a:buFont typeface="Arial"/>
              <a:buChar char="•"/>
            </a:pPr>
            <a:r>
              <a:rPr lang="en-US" sz="2109" b="1" spc="168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COMPUTER VISION AND OCR:</a:t>
            </a:r>
            <a:r>
              <a:rPr lang="en-US" sz="2109" b="1" spc="168">
                <a:solidFill>
                  <a:srgbClr val="100F0F"/>
                </a:solidFill>
                <a:latin typeface="Roboto Bold"/>
                <a:ea typeface="Roboto Bold"/>
                <a:cs typeface="Roboto Bold"/>
                <a:sym typeface="Roboto Bold"/>
              </a:rPr>
              <a:t> TO EXTRACT TEXT FROM FOOD-LABEL IMAGES.</a:t>
            </a:r>
          </a:p>
          <a:p>
            <a:pPr marL="455205" lvl="1" indent="-227603" algn="l">
              <a:lnSpc>
                <a:spcPts val="3164"/>
              </a:lnSpc>
              <a:buFont typeface="Arial"/>
              <a:buChar char="•"/>
            </a:pPr>
            <a:r>
              <a:rPr lang="en-US" sz="2109" b="1" spc="168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HEALTH INFORMATICS:</a:t>
            </a:r>
            <a:r>
              <a:rPr lang="en-US" sz="2109" b="1" spc="168">
                <a:solidFill>
                  <a:srgbClr val="100F0F"/>
                </a:solidFill>
                <a:latin typeface="Roboto Bold"/>
                <a:ea typeface="Roboto Bold"/>
                <a:cs typeface="Roboto Bold"/>
                <a:sym typeface="Roboto Bold"/>
              </a:rPr>
              <a:t> TO ORGANIZE AND INTERPRET NUTRITIONAL INFORMATION.</a:t>
            </a:r>
          </a:p>
          <a:p>
            <a:pPr marL="455205" lvl="1" indent="-227603" algn="l">
              <a:lnSpc>
                <a:spcPts val="3164"/>
              </a:lnSpc>
              <a:buFont typeface="Arial"/>
              <a:buChar char="•"/>
            </a:pPr>
            <a:r>
              <a:rPr lang="en-US" sz="2109" b="1" spc="168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RECOMMENDATION SYSTEMS:</a:t>
            </a:r>
            <a:r>
              <a:rPr lang="en-US" sz="2109" b="1" spc="168">
                <a:solidFill>
                  <a:srgbClr val="100F0F"/>
                </a:solidFill>
                <a:latin typeface="Roboto Bold"/>
                <a:ea typeface="Roboto Bold"/>
                <a:cs typeface="Roboto Bold"/>
                <a:sym typeface="Roboto Bold"/>
              </a:rPr>
              <a:t> TO SUGGEST ALTERNATIVE FOOD PRODUCTS BASED ON NUTRITIONAL CRITERIA AND USER PREFERENCES.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17544" y="2742530"/>
            <a:ext cx="1239308" cy="500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16">
                <a:solidFill>
                  <a:srgbClr val="40B8D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"Low sodium" "High in fiber"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25271" y="1180914"/>
            <a:ext cx="2448570" cy="27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863" b="1" spc="-18">
                <a:solidFill>
                  <a:srgbClr val="FFFFFF">
                    <a:alpha val="84706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COMPUTER VISION / OCR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96612" y="5018506"/>
            <a:ext cx="2090974" cy="249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FFFFFF">
                    <a:alpha val="84706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HEALTH INFORMATICS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431222" y="5324847"/>
            <a:ext cx="2036667" cy="5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 b="1" spc="-19">
                <a:solidFill>
                  <a:srgbClr val="FFFFFF">
                    <a:alpha val="84706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RECOMMENDATION SYSTEMS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46046" y="1557635"/>
            <a:ext cx="319560" cy="22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 spc="-14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NLP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904875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53205" y="8745855"/>
            <a:ext cx="606095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9202" y="3564328"/>
            <a:ext cx="9103034" cy="5104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2065" lvl="1" indent="-316033" algn="l">
              <a:lnSpc>
                <a:spcPts val="4098"/>
              </a:lnSpc>
              <a:spcBef>
                <a:spcPct val="0"/>
              </a:spcBef>
              <a:buFont typeface="Arial"/>
              <a:buChar char="•"/>
            </a:pPr>
            <a:r>
              <a:rPr lang="en-US" sz="2927" spc="29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CONSUMERS STRUGGLE TO UNDERSTAND COMPLEX INGREDIENT LISTS ON PACKAGED FOODS.</a:t>
            </a:r>
          </a:p>
          <a:p>
            <a:pPr algn="l">
              <a:lnSpc>
                <a:spcPts val="4098"/>
              </a:lnSpc>
              <a:spcBef>
                <a:spcPct val="0"/>
              </a:spcBef>
            </a:pPr>
            <a:endParaRPr lang="en-US" sz="2927" spc="292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32065" lvl="1" indent="-316033" algn="l">
              <a:lnSpc>
                <a:spcPts val="4098"/>
              </a:lnSpc>
              <a:spcBef>
                <a:spcPct val="0"/>
              </a:spcBef>
              <a:buFont typeface="Arial"/>
              <a:buChar char="•"/>
            </a:pPr>
            <a:r>
              <a:rPr lang="en-US" sz="2927" spc="29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HIDDEN SUGARS, EXCESS SODIUM, AND UNHEALTHY FATS ARE DIFFICULT TO IDENTIFY.</a:t>
            </a:r>
          </a:p>
          <a:p>
            <a:pPr algn="l">
              <a:lnSpc>
                <a:spcPts val="4098"/>
              </a:lnSpc>
              <a:spcBef>
                <a:spcPct val="0"/>
              </a:spcBef>
            </a:pPr>
            <a:endParaRPr lang="en-US" sz="2927" spc="292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32065" lvl="1" indent="-316033" algn="l">
              <a:lnSpc>
                <a:spcPts val="4098"/>
              </a:lnSpc>
              <a:spcBef>
                <a:spcPct val="0"/>
              </a:spcBef>
              <a:buFont typeface="Arial"/>
              <a:buChar char="•"/>
            </a:pPr>
            <a:r>
              <a:rPr lang="en-US" sz="2927" spc="29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UNFAMILIAR ADDITIVES AND CHEMICAL NAMES CREATE CONFUSION.</a:t>
            </a:r>
          </a:p>
        </p:txBody>
      </p:sp>
      <p:sp>
        <p:nvSpPr>
          <p:cNvPr id="6" name="Freeform 6"/>
          <p:cNvSpPr/>
          <p:nvPr/>
        </p:nvSpPr>
        <p:spPr>
          <a:xfrm>
            <a:off x="11050578" y="0"/>
            <a:ext cx="7237422" cy="10287000"/>
          </a:xfrm>
          <a:custGeom>
            <a:avLst/>
            <a:gdLst/>
            <a:ahLst/>
            <a:cxnLst/>
            <a:rect l="l" t="t" r="r" b="b"/>
            <a:pathLst>
              <a:path w="7237422" h="10287000">
                <a:moveTo>
                  <a:pt x="0" y="0"/>
                </a:moveTo>
                <a:lnTo>
                  <a:pt x="7237422" y="0"/>
                </a:lnTo>
                <a:lnTo>
                  <a:pt x="72374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92" t="-1477" r="-1492" b="-1477"/>
            </a:stretch>
          </a:blipFill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050578" y="0"/>
            <a:ext cx="7237422" cy="10287000"/>
          </a:xfrm>
          <a:custGeom>
            <a:avLst/>
            <a:gdLst/>
            <a:ahLst/>
            <a:cxnLst/>
            <a:rect l="l" t="t" r="r" b="b"/>
            <a:pathLst>
              <a:path w="7237422" h="10287000">
                <a:moveTo>
                  <a:pt x="0" y="0"/>
                </a:moveTo>
                <a:lnTo>
                  <a:pt x="7237422" y="0"/>
                </a:lnTo>
                <a:lnTo>
                  <a:pt x="72374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92" t="-1477" r="-1492" b="-147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3068418"/>
            <a:ext cx="9638225" cy="600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4612" lvl="1" indent="-337306" algn="l">
              <a:lnSpc>
                <a:spcPts val="4374"/>
              </a:lnSpc>
              <a:spcBef>
                <a:spcPct val="0"/>
              </a:spcBef>
              <a:buFont typeface="Arial"/>
              <a:buChar char="•"/>
            </a:pPr>
            <a:r>
              <a:rPr lang="en-US" sz="3124" spc="31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COMPARING NUTRITIONAL VALUES ACROSS DIFFERENT PRODUCTS IS TIME-CONSUMING.</a:t>
            </a:r>
          </a:p>
          <a:p>
            <a:pPr algn="l">
              <a:lnSpc>
                <a:spcPts val="4374"/>
              </a:lnSpc>
              <a:spcBef>
                <a:spcPct val="0"/>
              </a:spcBef>
            </a:pPr>
            <a:endParaRPr lang="en-US" sz="3124" spc="312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74612" lvl="1" indent="-337306" algn="l">
              <a:lnSpc>
                <a:spcPts val="4374"/>
              </a:lnSpc>
              <a:spcBef>
                <a:spcPct val="0"/>
              </a:spcBef>
              <a:buFont typeface="Arial"/>
              <a:buChar char="•"/>
            </a:pPr>
            <a:r>
              <a:rPr lang="en-US" sz="3124" spc="31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PEOPLE OFTEN LACK AWARENESS OF THE POTENTIAL EFFECTS OF CERTAIN INGREDIENTS.</a:t>
            </a:r>
          </a:p>
          <a:p>
            <a:pPr algn="l">
              <a:lnSpc>
                <a:spcPts val="4374"/>
              </a:lnSpc>
              <a:spcBef>
                <a:spcPct val="0"/>
              </a:spcBef>
            </a:pPr>
            <a:endParaRPr lang="en-US" sz="3124" spc="312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74612" lvl="1" indent="-337306" algn="l">
              <a:lnSpc>
                <a:spcPts val="4374"/>
              </a:lnSpc>
              <a:spcBef>
                <a:spcPct val="0"/>
              </a:spcBef>
              <a:buFont typeface="Arial"/>
              <a:buChar char="•"/>
            </a:pPr>
            <a:r>
              <a:rPr lang="en-US" sz="3124" spc="31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IDENTIFYING ALLERGENS AND DIETARY RESTRICTIONS REQUIRES CAREFUL LABEL CHECKING.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04875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653205" y="8745855"/>
            <a:ext cx="606095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904875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Methodology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05722" y="3186350"/>
            <a:ext cx="17783064" cy="582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  <a:spcBef>
                <a:spcPct val="0"/>
              </a:spcBef>
            </a:pPr>
            <a:r>
              <a:rPr lang="en-US" sz="2785" b="1" spc="-11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9-Step OpenCV Preprocessing Pipeline: </a:t>
            </a:r>
          </a:p>
          <a:p>
            <a:pPr marL="601368" lvl="1" indent="-300684" algn="l">
              <a:lnSpc>
                <a:spcPts val="3899"/>
              </a:lnSpc>
              <a:spcBef>
                <a:spcPct val="0"/>
              </a:spcBef>
              <a:buFont typeface="Arial"/>
              <a:buChar char="•"/>
            </a:pPr>
            <a:r>
              <a:rPr lang="en-US" sz="2785" b="1" spc="-111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Grayscale Conversion:</a:t>
            </a:r>
            <a:r>
              <a:rPr lang="en-US" sz="2785" b="1" spc="-11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Reduces computational overhead from 3-channel RGB to 1-channel luminance.</a:t>
            </a:r>
          </a:p>
          <a:p>
            <a:pPr marL="601368" lvl="1" indent="-300684" algn="l">
              <a:lnSpc>
                <a:spcPts val="3899"/>
              </a:lnSpc>
              <a:spcBef>
                <a:spcPct val="0"/>
              </a:spcBef>
              <a:buFont typeface="Arial"/>
              <a:buChar char="•"/>
            </a:pPr>
            <a:r>
              <a:rPr lang="en-US" sz="2785" b="1" spc="-111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Bilateral Filtering:</a:t>
            </a:r>
            <a:r>
              <a:rPr lang="en-US" sz="2785" b="1" spc="-11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Removes sensor noise while preserving critical text edges (σcolor​=75,σspace​=75).</a:t>
            </a:r>
          </a:p>
          <a:p>
            <a:pPr marL="601368" lvl="1" indent="-300684" algn="l">
              <a:lnSpc>
                <a:spcPts val="3899"/>
              </a:lnSpc>
              <a:spcBef>
                <a:spcPct val="0"/>
              </a:spcBef>
              <a:buFont typeface="Arial"/>
              <a:buChar char="•"/>
            </a:pPr>
            <a:r>
              <a:rPr lang="en-US" sz="2785" b="1" spc="-111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CLAHE (Adaptive Histogram Equalization)</a:t>
            </a:r>
            <a:r>
              <a:rPr lang="en-US" sz="2785" b="1" spc="-11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: Corrects uneven supermarket lighting and flash glare.</a:t>
            </a:r>
          </a:p>
          <a:p>
            <a:pPr marL="601368" lvl="1" indent="-300684" algn="l">
              <a:lnSpc>
                <a:spcPts val="3899"/>
              </a:lnSpc>
              <a:spcBef>
                <a:spcPct val="0"/>
              </a:spcBef>
              <a:buFont typeface="Arial"/>
              <a:buChar char="•"/>
            </a:pPr>
            <a:r>
              <a:rPr lang="en-US" sz="2785" b="1" spc="-111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Morphological Gradient &amp; Otsu Thresholding: </a:t>
            </a:r>
            <a:r>
              <a:rPr lang="en-US" sz="2785" b="1" spc="-11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Dynamically isolates character boundaries from packaging backgrounds.</a:t>
            </a:r>
          </a:p>
          <a:p>
            <a:pPr marL="601368" lvl="1" indent="-300684" algn="l">
              <a:lnSpc>
                <a:spcPts val="3899"/>
              </a:lnSpc>
              <a:spcBef>
                <a:spcPct val="0"/>
              </a:spcBef>
              <a:buFont typeface="Arial"/>
              <a:buChar char="•"/>
            </a:pPr>
            <a:r>
              <a:rPr lang="en-US" sz="2785" b="1" spc="-111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Deskewing &amp; Affine Rotation:</a:t>
            </a:r>
            <a:r>
              <a:rPr lang="en-US" sz="2785" b="1" spc="-11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Detects text orientation via cv2.minAreaRect and realigns rotated labels.</a:t>
            </a:r>
          </a:p>
          <a:p>
            <a:pPr marL="601368" lvl="1" indent="-300684" algn="l">
              <a:lnSpc>
                <a:spcPts val="3899"/>
              </a:lnSpc>
              <a:spcBef>
                <a:spcPct val="0"/>
              </a:spcBef>
              <a:buFont typeface="Arial"/>
              <a:buChar char="•"/>
            </a:pPr>
            <a:r>
              <a:rPr lang="en-US" sz="2785" b="1" spc="-111">
                <a:solidFill>
                  <a:srgbClr val="40B8D8"/>
                </a:solidFill>
                <a:latin typeface="Roboto Bold"/>
                <a:ea typeface="Roboto Bold"/>
                <a:cs typeface="Roboto Bold"/>
                <a:sym typeface="Roboto Bold"/>
              </a:rPr>
              <a:t>Morphological Closing &amp; 5px Padding:</a:t>
            </a:r>
            <a:r>
              <a:rPr lang="en-US" sz="2785" b="1" spc="-11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Reconnects broken dot-matrix printing and prevents border truncation.</a:t>
            </a:r>
          </a:p>
          <a:p>
            <a:pPr algn="l">
              <a:lnSpc>
                <a:spcPts val="3899"/>
              </a:lnSpc>
              <a:spcBef>
                <a:spcPct val="0"/>
              </a:spcBef>
            </a:pPr>
            <a:endParaRPr lang="en-US" sz="2785" b="1" spc="-111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3899"/>
              </a:lnSpc>
              <a:spcBef>
                <a:spcPct val="0"/>
              </a:spcBef>
            </a:pPr>
            <a:r>
              <a:rPr lang="en-US" sz="2785" b="1" spc="-11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OCR Inference Engine: </a:t>
            </a:r>
          </a:p>
          <a:p>
            <a:pPr marL="601368" lvl="1" indent="-300684" algn="l">
              <a:lnSpc>
                <a:spcPts val="3899"/>
              </a:lnSpc>
              <a:spcBef>
                <a:spcPct val="0"/>
              </a:spcBef>
              <a:buFont typeface="Arial"/>
              <a:buChar char="•"/>
            </a:pPr>
            <a:r>
              <a:rPr lang="en-US" sz="2785" b="1" spc="-11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Powered by Google Tesseract 5.x LSTM Neural Network (--oem 1 --psm 6).</a:t>
            </a:r>
          </a:p>
          <a:p>
            <a:pPr marL="601368" lvl="1" indent="-300684" algn="l">
              <a:lnSpc>
                <a:spcPts val="3899"/>
              </a:lnSpc>
              <a:spcBef>
                <a:spcPct val="0"/>
              </a:spcBef>
              <a:buFont typeface="Arial"/>
              <a:buChar char="•"/>
            </a:pPr>
            <a:r>
              <a:rPr lang="en-US" sz="2785" b="1" spc="-11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Per-word confidence thresholding (≥60%) discards unreadable background artifacts.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904875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Tools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480843" y="2553816"/>
            <a:ext cx="3775710" cy="3126105"/>
            <a:chOff x="0" y="0"/>
            <a:chExt cx="5034280" cy="41681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34280" cy="4168140"/>
            </a:xfrm>
            <a:custGeom>
              <a:avLst/>
              <a:gdLst/>
              <a:ahLst/>
              <a:cxnLst/>
              <a:rect l="l" t="t" r="r" b="b"/>
              <a:pathLst>
                <a:path w="5034280" h="4168140">
                  <a:moveTo>
                    <a:pt x="177800" y="0"/>
                  </a:moveTo>
                  <a:lnTo>
                    <a:pt x="4856480" y="0"/>
                  </a:lnTo>
                  <a:cubicBezTo>
                    <a:pt x="4903636" y="0"/>
                    <a:pt x="4948860" y="18732"/>
                    <a:pt x="4982204" y="52076"/>
                  </a:cubicBezTo>
                  <a:cubicBezTo>
                    <a:pt x="5015547" y="85420"/>
                    <a:pt x="5034280" y="130645"/>
                    <a:pt x="5034280" y="177800"/>
                  </a:cubicBezTo>
                  <a:lnTo>
                    <a:pt x="5034280" y="3990340"/>
                  </a:lnTo>
                  <a:cubicBezTo>
                    <a:pt x="5034280" y="4088536"/>
                    <a:pt x="4954676" y="4168140"/>
                    <a:pt x="4856480" y="4168140"/>
                  </a:cubicBezTo>
                  <a:lnTo>
                    <a:pt x="177800" y="4168140"/>
                  </a:lnTo>
                  <a:cubicBezTo>
                    <a:pt x="79604" y="4168140"/>
                    <a:pt x="0" y="4088536"/>
                    <a:pt x="0" y="399034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7D7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034280" cy="4206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709443" y="2715741"/>
            <a:ext cx="3318510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COMPUTER VISION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09443" y="3258666"/>
            <a:ext cx="3318510" cy="148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OpenCV (cv2)</a:t>
            </a:r>
          </a:p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NumPy</a:t>
            </a:r>
          </a:p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Pillow (PIL)</a:t>
            </a:r>
          </a:p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CLAHE &amp; Otsu Algo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485153" y="2553816"/>
            <a:ext cx="3775710" cy="3126105"/>
            <a:chOff x="0" y="0"/>
            <a:chExt cx="5034280" cy="41681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34280" cy="4168140"/>
            </a:xfrm>
            <a:custGeom>
              <a:avLst/>
              <a:gdLst/>
              <a:ahLst/>
              <a:cxnLst/>
              <a:rect l="l" t="t" r="r" b="b"/>
              <a:pathLst>
                <a:path w="5034280" h="4168140">
                  <a:moveTo>
                    <a:pt x="177800" y="0"/>
                  </a:moveTo>
                  <a:lnTo>
                    <a:pt x="4856480" y="0"/>
                  </a:lnTo>
                  <a:cubicBezTo>
                    <a:pt x="4903636" y="0"/>
                    <a:pt x="4948860" y="18732"/>
                    <a:pt x="4982204" y="52076"/>
                  </a:cubicBezTo>
                  <a:cubicBezTo>
                    <a:pt x="5015547" y="85420"/>
                    <a:pt x="5034280" y="130645"/>
                    <a:pt x="5034280" y="177800"/>
                  </a:cubicBezTo>
                  <a:lnTo>
                    <a:pt x="5034280" y="3990340"/>
                  </a:lnTo>
                  <a:cubicBezTo>
                    <a:pt x="5034280" y="4088536"/>
                    <a:pt x="4954676" y="4168140"/>
                    <a:pt x="4856480" y="4168140"/>
                  </a:cubicBezTo>
                  <a:lnTo>
                    <a:pt x="177800" y="4168140"/>
                  </a:lnTo>
                  <a:cubicBezTo>
                    <a:pt x="79604" y="4168140"/>
                    <a:pt x="0" y="4088536"/>
                    <a:pt x="0" y="399034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7D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034280" cy="4206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713753" y="2715741"/>
            <a:ext cx="3318510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NLP &amp; ALGORITHMS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13753" y="3258666"/>
            <a:ext cx="3318510" cy="148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Tesseract OCR (v5.x)</a:t>
            </a:r>
          </a:p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PyTesseract Engine</a:t>
            </a:r>
          </a:p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Python Regex (re)</a:t>
            </a:r>
          </a:p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Fuzzy String Matcher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489463" y="2553816"/>
            <a:ext cx="3775710" cy="3126105"/>
            <a:chOff x="0" y="0"/>
            <a:chExt cx="5034280" cy="41681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34280" cy="4168140"/>
            </a:xfrm>
            <a:custGeom>
              <a:avLst/>
              <a:gdLst/>
              <a:ahLst/>
              <a:cxnLst/>
              <a:rect l="l" t="t" r="r" b="b"/>
              <a:pathLst>
                <a:path w="5034280" h="4168140">
                  <a:moveTo>
                    <a:pt x="177800" y="0"/>
                  </a:moveTo>
                  <a:lnTo>
                    <a:pt x="4856480" y="0"/>
                  </a:lnTo>
                  <a:cubicBezTo>
                    <a:pt x="4903636" y="0"/>
                    <a:pt x="4948860" y="18732"/>
                    <a:pt x="4982204" y="52076"/>
                  </a:cubicBezTo>
                  <a:cubicBezTo>
                    <a:pt x="5015547" y="85420"/>
                    <a:pt x="5034280" y="130645"/>
                    <a:pt x="5034280" y="177800"/>
                  </a:cubicBezTo>
                  <a:lnTo>
                    <a:pt x="5034280" y="3990340"/>
                  </a:lnTo>
                  <a:cubicBezTo>
                    <a:pt x="5034280" y="4088536"/>
                    <a:pt x="4954676" y="4168140"/>
                    <a:pt x="4856480" y="4168140"/>
                  </a:cubicBezTo>
                  <a:lnTo>
                    <a:pt x="177800" y="4168140"/>
                  </a:lnTo>
                  <a:cubicBezTo>
                    <a:pt x="79604" y="4168140"/>
                    <a:pt x="0" y="4088536"/>
                    <a:pt x="0" y="399034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7D7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034280" cy="4206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718063" y="2715741"/>
            <a:ext cx="3318510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BACKEND &amp; DATABASE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18063" y="3258666"/>
            <a:ext cx="3318510" cy="148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Python 3.10+</a:t>
            </a:r>
          </a:p>
          <a:p>
            <a:pPr algn="l">
              <a:lnSpc>
                <a:spcPts val="2970"/>
              </a:lnSpc>
            </a:pPr>
            <a:r>
              <a:rPr lang="en-US" sz="2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Flask / RESTful API</a:t>
            </a:r>
          </a:p>
          <a:p>
            <a:pPr algn="l">
              <a:lnSpc>
                <a:spcPts val="2970"/>
              </a:lnSpc>
            </a:pPr>
            <a:r>
              <a:rPr lang="en-US" sz="2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MySQL 8.0</a:t>
            </a:r>
          </a:p>
          <a:p>
            <a:pPr algn="l">
              <a:lnSpc>
                <a:spcPts val="2970"/>
              </a:lnSpc>
            </a:pPr>
            <a:endParaRPr lang="en-US" sz="2200" b="1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3480843" y="5927571"/>
            <a:ext cx="3775710" cy="3126105"/>
            <a:chOff x="0" y="0"/>
            <a:chExt cx="5034280" cy="41681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34280" cy="4168140"/>
            </a:xfrm>
            <a:custGeom>
              <a:avLst/>
              <a:gdLst/>
              <a:ahLst/>
              <a:cxnLst/>
              <a:rect l="l" t="t" r="r" b="b"/>
              <a:pathLst>
                <a:path w="5034280" h="4168140">
                  <a:moveTo>
                    <a:pt x="177800" y="0"/>
                  </a:moveTo>
                  <a:lnTo>
                    <a:pt x="4856480" y="0"/>
                  </a:lnTo>
                  <a:cubicBezTo>
                    <a:pt x="4903636" y="0"/>
                    <a:pt x="4948860" y="18732"/>
                    <a:pt x="4982204" y="52076"/>
                  </a:cubicBezTo>
                  <a:cubicBezTo>
                    <a:pt x="5015547" y="85420"/>
                    <a:pt x="5034280" y="130645"/>
                    <a:pt x="5034280" y="177800"/>
                  </a:cubicBezTo>
                  <a:lnTo>
                    <a:pt x="5034280" y="3990340"/>
                  </a:lnTo>
                  <a:cubicBezTo>
                    <a:pt x="5034280" y="4088536"/>
                    <a:pt x="4954676" y="4168140"/>
                    <a:pt x="4856480" y="4168140"/>
                  </a:cubicBezTo>
                  <a:lnTo>
                    <a:pt x="177800" y="4168140"/>
                  </a:lnTo>
                  <a:cubicBezTo>
                    <a:pt x="79604" y="4168140"/>
                    <a:pt x="0" y="4088536"/>
                    <a:pt x="0" y="399034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7D7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034280" cy="4206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709443" y="6089496"/>
            <a:ext cx="3318510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FRONTEND &amp; CLIENT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09443" y="6632421"/>
            <a:ext cx="3318510" cy="1853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HTML5, CSS3, ES6+ JS</a:t>
            </a:r>
          </a:p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Bootstrap 5</a:t>
            </a:r>
          </a:p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WebRTC (Camera Stream)</a:t>
            </a:r>
          </a:p>
          <a:p>
            <a:pPr algn="l">
              <a:lnSpc>
                <a:spcPts val="2969"/>
              </a:lnSpc>
            </a:pPr>
            <a:endParaRPr lang="en-US" sz="2199" b="1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7485153" y="5927571"/>
            <a:ext cx="3775710" cy="3126105"/>
            <a:chOff x="0" y="0"/>
            <a:chExt cx="5034280" cy="41681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34280" cy="4168140"/>
            </a:xfrm>
            <a:custGeom>
              <a:avLst/>
              <a:gdLst/>
              <a:ahLst/>
              <a:cxnLst/>
              <a:rect l="l" t="t" r="r" b="b"/>
              <a:pathLst>
                <a:path w="5034280" h="4168140">
                  <a:moveTo>
                    <a:pt x="177800" y="0"/>
                  </a:moveTo>
                  <a:lnTo>
                    <a:pt x="4856480" y="0"/>
                  </a:lnTo>
                  <a:cubicBezTo>
                    <a:pt x="4903636" y="0"/>
                    <a:pt x="4948860" y="18732"/>
                    <a:pt x="4982204" y="52076"/>
                  </a:cubicBezTo>
                  <a:cubicBezTo>
                    <a:pt x="5015547" y="85420"/>
                    <a:pt x="5034280" y="130645"/>
                    <a:pt x="5034280" y="177800"/>
                  </a:cubicBezTo>
                  <a:lnTo>
                    <a:pt x="5034280" y="3990340"/>
                  </a:lnTo>
                  <a:cubicBezTo>
                    <a:pt x="5034280" y="4088536"/>
                    <a:pt x="4954676" y="4168140"/>
                    <a:pt x="4856480" y="4168140"/>
                  </a:cubicBezTo>
                  <a:lnTo>
                    <a:pt x="177800" y="4168140"/>
                  </a:lnTo>
                  <a:cubicBezTo>
                    <a:pt x="79604" y="4168140"/>
                    <a:pt x="0" y="4088536"/>
                    <a:pt x="0" y="399034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7D7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5034280" cy="4206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713753" y="6089496"/>
            <a:ext cx="3318510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DEVELOPMENT &amp; TESTING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13753" y="6632421"/>
            <a:ext cx="3318510" cy="111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Visual Studio Code</a:t>
            </a:r>
          </a:p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Git &amp; GitHub</a:t>
            </a:r>
          </a:p>
          <a:p>
            <a:pPr algn="l">
              <a:lnSpc>
                <a:spcPts val="2969"/>
              </a:lnSpc>
            </a:pPr>
            <a:endParaRPr lang="en-US" sz="2199" b="1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11489463" y="5927571"/>
            <a:ext cx="3775710" cy="3126105"/>
            <a:chOff x="0" y="0"/>
            <a:chExt cx="5034280" cy="41681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034280" cy="4168140"/>
            </a:xfrm>
            <a:custGeom>
              <a:avLst/>
              <a:gdLst/>
              <a:ahLst/>
              <a:cxnLst/>
              <a:rect l="l" t="t" r="r" b="b"/>
              <a:pathLst>
                <a:path w="5034280" h="4168140">
                  <a:moveTo>
                    <a:pt x="177800" y="0"/>
                  </a:moveTo>
                  <a:lnTo>
                    <a:pt x="4856480" y="0"/>
                  </a:lnTo>
                  <a:cubicBezTo>
                    <a:pt x="4903636" y="0"/>
                    <a:pt x="4948860" y="18732"/>
                    <a:pt x="4982204" y="52076"/>
                  </a:cubicBezTo>
                  <a:cubicBezTo>
                    <a:pt x="5015547" y="85420"/>
                    <a:pt x="5034280" y="130645"/>
                    <a:pt x="5034280" y="177800"/>
                  </a:cubicBezTo>
                  <a:lnTo>
                    <a:pt x="5034280" y="3990340"/>
                  </a:lnTo>
                  <a:cubicBezTo>
                    <a:pt x="5034280" y="4088536"/>
                    <a:pt x="4954676" y="4168140"/>
                    <a:pt x="4856480" y="4168140"/>
                  </a:cubicBezTo>
                  <a:lnTo>
                    <a:pt x="177800" y="4168140"/>
                  </a:lnTo>
                  <a:cubicBezTo>
                    <a:pt x="79604" y="4168140"/>
                    <a:pt x="0" y="4088536"/>
                    <a:pt x="0" y="399034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D7D7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5034280" cy="4206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718063" y="6089496"/>
            <a:ext cx="3318510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REGULATORY STANDARDS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718063" y="6632421"/>
            <a:ext cx="3318510" cy="148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FDA Big 9 Guidelines</a:t>
            </a:r>
          </a:p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EU 14 Allergen FIC</a:t>
            </a:r>
          </a:p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CODEX Alimentarius</a:t>
            </a:r>
          </a:p>
          <a:p>
            <a:pPr algn="l">
              <a:lnSpc>
                <a:spcPts val="2969"/>
              </a:lnSpc>
            </a:pPr>
            <a:r>
              <a:rPr lang="en-US" sz="2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• Glycemic Index Tables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82764" y="704385"/>
            <a:ext cx="3522044" cy="70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5277" b="1" spc="-21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Architecture</a:t>
            </a:r>
          </a:p>
        </p:txBody>
      </p:sp>
      <p:sp>
        <p:nvSpPr>
          <p:cNvPr id="4" name="Freeform 4"/>
          <p:cNvSpPr/>
          <p:nvPr/>
        </p:nvSpPr>
        <p:spPr>
          <a:xfrm>
            <a:off x="866775" y="171450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05850" y="1714500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572000" y="2143125"/>
            <a:ext cx="9144000" cy="1076325"/>
          </a:xfrm>
          <a:custGeom>
            <a:avLst/>
            <a:gdLst/>
            <a:ahLst/>
            <a:cxnLst/>
            <a:rect l="l" t="t" r="r" b="b"/>
            <a:pathLst>
              <a:path w="9144000" h="1076325">
                <a:moveTo>
                  <a:pt x="0" y="0"/>
                </a:moveTo>
                <a:lnTo>
                  <a:pt x="9144000" y="0"/>
                </a:lnTo>
                <a:lnTo>
                  <a:pt x="91440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655069" y="2517715"/>
            <a:ext cx="2818019" cy="341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sz="2109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1. User Authentication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8705850" y="3000375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572000" y="3429000"/>
            <a:ext cx="9144000" cy="1076325"/>
          </a:xfrm>
          <a:custGeom>
            <a:avLst/>
            <a:gdLst/>
            <a:ahLst/>
            <a:cxnLst/>
            <a:rect l="l" t="t" r="r" b="b"/>
            <a:pathLst>
              <a:path w="9144000" h="1076325">
                <a:moveTo>
                  <a:pt x="0" y="0"/>
                </a:moveTo>
                <a:lnTo>
                  <a:pt x="9144000" y="0"/>
                </a:lnTo>
                <a:lnTo>
                  <a:pt x="91440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322276" y="3572535"/>
            <a:ext cx="7483607" cy="680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sz="2109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2. Health Profile → Select Allergies (Nuts, Milk), Conditions (Diabetes), Diets (Vegan)</a:t>
            </a:r>
          </a:p>
        </p:txBody>
      </p:sp>
      <p:sp>
        <p:nvSpPr>
          <p:cNvPr id="11" name="Freeform 11"/>
          <p:cNvSpPr/>
          <p:nvPr/>
        </p:nvSpPr>
        <p:spPr>
          <a:xfrm>
            <a:off x="8705850" y="4286250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572000" y="4495800"/>
            <a:ext cx="9144000" cy="1076325"/>
          </a:xfrm>
          <a:custGeom>
            <a:avLst/>
            <a:gdLst/>
            <a:ahLst/>
            <a:cxnLst/>
            <a:rect l="l" t="t" r="r" b="b"/>
            <a:pathLst>
              <a:path w="9144000" h="1076325">
                <a:moveTo>
                  <a:pt x="0" y="0"/>
                </a:moveTo>
                <a:lnTo>
                  <a:pt x="9144000" y="0"/>
                </a:lnTo>
                <a:lnTo>
                  <a:pt x="91440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685589" y="4928731"/>
            <a:ext cx="2756981" cy="341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sz="2109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3. Food Label Capture</a:t>
            </a:r>
          </a:p>
        </p:txBody>
      </p:sp>
      <p:sp>
        <p:nvSpPr>
          <p:cNvPr id="14" name="Freeform 14"/>
          <p:cNvSpPr/>
          <p:nvPr/>
        </p:nvSpPr>
        <p:spPr>
          <a:xfrm>
            <a:off x="8705850" y="5353050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572000" y="5781675"/>
            <a:ext cx="9144000" cy="1076325"/>
          </a:xfrm>
          <a:custGeom>
            <a:avLst/>
            <a:gdLst/>
            <a:ahLst/>
            <a:cxnLst/>
            <a:rect l="l" t="t" r="r" b="b"/>
            <a:pathLst>
              <a:path w="9144000" h="1076325">
                <a:moveTo>
                  <a:pt x="0" y="0"/>
                </a:moveTo>
                <a:lnTo>
                  <a:pt x="9144000" y="0"/>
                </a:lnTo>
                <a:lnTo>
                  <a:pt x="91440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028389" y="5923275"/>
            <a:ext cx="6071382" cy="680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sz="2109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4. Computer Vision+OCR → OpenCV deskews &amp; </a:t>
            </a:r>
          </a:p>
          <a:p>
            <a:pPr algn="ctr">
              <a:lnSpc>
                <a:spcPts val="2741"/>
              </a:lnSpc>
            </a:pPr>
            <a:r>
              <a:rPr lang="en-US" sz="2109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enhances → Tesseract extracts text</a:t>
            </a:r>
          </a:p>
        </p:txBody>
      </p:sp>
      <p:sp>
        <p:nvSpPr>
          <p:cNvPr id="17" name="Freeform 17"/>
          <p:cNvSpPr/>
          <p:nvPr/>
        </p:nvSpPr>
        <p:spPr>
          <a:xfrm>
            <a:off x="8705850" y="6638925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572000" y="7067550"/>
            <a:ext cx="8934450" cy="1076325"/>
          </a:xfrm>
          <a:custGeom>
            <a:avLst/>
            <a:gdLst/>
            <a:ahLst/>
            <a:cxnLst/>
            <a:rect l="l" t="t" r="r" b="b"/>
            <a:pathLst>
              <a:path w="8934450" h="1076325">
                <a:moveTo>
                  <a:pt x="0" y="0"/>
                </a:moveTo>
                <a:lnTo>
                  <a:pt x="8934450" y="0"/>
                </a:lnTo>
                <a:lnTo>
                  <a:pt x="893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696579" y="7234265"/>
            <a:ext cx="6735001" cy="680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sz="2109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5. Rule Engine Match → Matches ingredients against </a:t>
            </a:r>
          </a:p>
          <a:p>
            <a:pPr algn="ctr">
              <a:lnSpc>
                <a:spcPts val="2741"/>
              </a:lnSpc>
            </a:pPr>
            <a:r>
              <a:rPr lang="en-US" sz="2109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user profile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05850" y="7924800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572000" y="8353425"/>
            <a:ext cx="8934450" cy="1076325"/>
          </a:xfrm>
          <a:custGeom>
            <a:avLst/>
            <a:gdLst/>
            <a:ahLst/>
            <a:cxnLst/>
            <a:rect l="l" t="t" r="r" b="b"/>
            <a:pathLst>
              <a:path w="8934450" h="1076325">
                <a:moveTo>
                  <a:pt x="0" y="0"/>
                </a:moveTo>
                <a:lnTo>
                  <a:pt x="8934450" y="0"/>
                </a:lnTo>
                <a:lnTo>
                  <a:pt x="893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078752" y="8469910"/>
            <a:ext cx="5970654" cy="680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sz="2109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6. Explaniable Verdict → Displays 🟢 SAFE / 🟡</a:t>
            </a:r>
          </a:p>
          <a:p>
            <a:pPr algn="ctr">
              <a:lnSpc>
                <a:spcPts val="2741"/>
              </a:lnSpc>
            </a:pPr>
            <a:r>
              <a:rPr lang="en-US" sz="2109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CAUTION / 🛑 AVOID + Safe Alternatives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79075" y="1387552"/>
            <a:ext cx="4770010" cy="341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sz="2109" b="1">
                <a:solidFill>
                  <a:srgbClr val="0D0D0D"/>
                </a:solidFill>
                <a:latin typeface="Roboto Bold"/>
                <a:ea typeface="Roboto Bold"/>
                <a:cs typeface="Roboto Bold"/>
                <a:sym typeface="Roboto Bold"/>
              </a:rPr>
              <a:t>[START] User opens NutriLens AI Web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888530" y="2668942"/>
            <a:ext cx="7063932" cy="5282039"/>
          </a:xfrm>
          <a:custGeom>
            <a:avLst/>
            <a:gdLst/>
            <a:ahLst/>
            <a:cxnLst/>
            <a:rect l="l" t="t" r="r" b="b"/>
            <a:pathLst>
              <a:path w="7063932" h="5282039">
                <a:moveTo>
                  <a:pt x="0" y="0"/>
                </a:moveTo>
                <a:lnTo>
                  <a:pt x="7063932" y="0"/>
                </a:lnTo>
                <a:lnTo>
                  <a:pt x="7063932" y="5282039"/>
                </a:lnTo>
                <a:lnTo>
                  <a:pt x="0" y="5282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803021" y="3011658"/>
            <a:ext cx="7982894" cy="4939323"/>
          </a:xfrm>
          <a:custGeom>
            <a:avLst/>
            <a:gdLst/>
            <a:ahLst/>
            <a:cxnLst/>
            <a:rect l="l" t="t" r="r" b="b"/>
            <a:pathLst>
              <a:path w="7982894" h="4939323">
                <a:moveTo>
                  <a:pt x="0" y="0"/>
                </a:moveTo>
                <a:lnTo>
                  <a:pt x="7982894" y="0"/>
                </a:lnTo>
                <a:lnTo>
                  <a:pt x="7982894" y="4939323"/>
                </a:lnTo>
                <a:lnTo>
                  <a:pt x="0" y="49393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04875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Execution 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3824908" y="1984148"/>
            <a:ext cx="9551452" cy="8041512"/>
          </a:xfrm>
          <a:custGeom>
            <a:avLst/>
            <a:gdLst/>
            <a:ahLst/>
            <a:cxnLst/>
            <a:rect l="l" t="t" r="r" b="b"/>
            <a:pathLst>
              <a:path w="9551452" h="8041512">
                <a:moveTo>
                  <a:pt x="0" y="0"/>
                </a:moveTo>
                <a:lnTo>
                  <a:pt x="9551452" y="0"/>
                </a:lnTo>
                <a:lnTo>
                  <a:pt x="9551452" y="8041511"/>
                </a:lnTo>
                <a:lnTo>
                  <a:pt x="0" y="80415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904875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Execution - user profile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4490581" y="2732905"/>
            <a:ext cx="8798022" cy="7384622"/>
          </a:xfrm>
          <a:custGeom>
            <a:avLst/>
            <a:gdLst/>
            <a:ahLst/>
            <a:cxnLst/>
            <a:rect l="l" t="t" r="r" b="b"/>
            <a:pathLst>
              <a:path w="8798022" h="7384622">
                <a:moveTo>
                  <a:pt x="0" y="0"/>
                </a:moveTo>
                <a:lnTo>
                  <a:pt x="8798022" y="0"/>
                </a:lnTo>
                <a:lnTo>
                  <a:pt x="8798022" y="7384622"/>
                </a:lnTo>
                <a:lnTo>
                  <a:pt x="0" y="738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93" r="-149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136608"/>
            <a:ext cx="8871860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Execution - After registration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5163717" y="3273111"/>
            <a:ext cx="5863022" cy="4847047"/>
          </a:xfrm>
          <a:custGeom>
            <a:avLst/>
            <a:gdLst/>
            <a:ahLst/>
            <a:cxnLst/>
            <a:rect l="l" t="t" r="r" b="b"/>
            <a:pathLst>
              <a:path w="5863022" h="4847047">
                <a:moveTo>
                  <a:pt x="0" y="0"/>
                </a:moveTo>
                <a:lnTo>
                  <a:pt x="5863023" y="0"/>
                </a:lnTo>
                <a:lnTo>
                  <a:pt x="5863023" y="4847048"/>
                </a:lnTo>
                <a:lnTo>
                  <a:pt x="0" y="4847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247279" y="3333999"/>
            <a:ext cx="6880081" cy="4725273"/>
          </a:xfrm>
          <a:custGeom>
            <a:avLst/>
            <a:gdLst/>
            <a:ahLst/>
            <a:cxnLst/>
            <a:rect l="l" t="t" r="r" b="b"/>
            <a:pathLst>
              <a:path w="6880081" h="4725273">
                <a:moveTo>
                  <a:pt x="0" y="0"/>
                </a:moveTo>
                <a:lnTo>
                  <a:pt x="6880081" y="0"/>
                </a:lnTo>
                <a:lnTo>
                  <a:pt x="6880081" y="4725272"/>
                </a:lnTo>
                <a:lnTo>
                  <a:pt x="0" y="4725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257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38836" y="4688735"/>
            <a:ext cx="4624881" cy="2015801"/>
          </a:xfrm>
          <a:custGeom>
            <a:avLst/>
            <a:gdLst/>
            <a:ahLst/>
            <a:cxnLst/>
            <a:rect l="l" t="t" r="r" b="b"/>
            <a:pathLst>
              <a:path w="4624881" h="2015801">
                <a:moveTo>
                  <a:pt x="0" y="0"/>
                </a:moveTo>
                <a:lnTo>
                  <a:pt x="4624881" y="0"/>
                </a:lnTo>
                <a:lnTo>
                  <a:pt x="4624881" y="2015801"/>
                </a:lnTo>
                <a:lnTo>
                  <a:pt x="0" y="20158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904875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Output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8836" y="3874444"/>
            <a:ext cx="3951745" cy="56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sz="3196" b="1" spc="-127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Input Image</a:t>
            </a:r>
          </a:p>
        </p:txBody>
      </p:sp>
      <p:sp>
        <p:nvSpPr>
          <p:cNvPr id="8" name="AutoShape 8"/>
          <p:cNvSpPr/>
          <p:nvPr/>
        </p:nvSpPr>
        <p:spPr>
          <a:xfrm>
            <a:off x="538836" y="4482472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904875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73636" y="2968888"/>
            <a:ext cx="16313222" cy="58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593" lvl="1" indent="-464296" algn="l">
              <a:lnSpc>
                <a:spcPts val="5806"/>
              </a:lnSpc>
              <a:spcBef>
                <a:spcPct val="0"/>
              </a:spcBef>
              <a:buFont typeface="Arial"/>
              <a:buChar char="•"/>
            </a:pPr>
            <a:r>
              <a:rPr lang="en-US" sz="430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Automated Food Label Analysis: Converts fine-print packaging into clear text using OpenCV &amp; Tesseract OCR.</a:t>
            </a:r>
          </a:p>
          <a:p>
            <a:pPr algn="l">
              <a:lnSpc>
                <a:spcPts val="5806"/>
              </a:lnSpc>
              <a:spcBef>
                <a:spcPct val="0"/>
              </a:spcBef>
            </a:pPr>
            <a:endParaRPr lang="en-US" sz="430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28593" lvl="1" indent="-464296" algn="l">
              <a:lnSpc>
                <a:spcPts val="5806"/>
              </a:lnSpc>
              <a:spcBef>
                <a:spcPct val="0"/>
              </a:spcBef>
              <a:buFont typeface="Arial"/>
              <a:buChar char="•"/>
            </a:pPr>
            <a:r>
              <a:rPr lang="en-US" sz="430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Reliable &amp; Zero Hallucination: Deterministic rule engine cross-referenced against 2,500+ verified ingredients.</a:t>
            </a:r>
          </a:p>
          <a:p>
            <a:pPr algn="l">
              <a:lnSpc>
                <a:spcPts val="5806"/>
              </a:lnSpc>
              <a:spcBef>
                <a:spcPct val="0"/>
              </a:spcBef>
            </a:pPr>
            <a:endParaRPr lang="en-US" sz="430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28593" lvl="1" indent="-464296" algn="l">
              <a:lnSpc>
                <a:spcPts val="5806"/>
              </a:lnSpc>
              <a:spcBef>
                <a:spcPct val="0"/>
              </a:spcBef>
              <a:buFont typeface="Arial"/>
              <a:buChar char="•"/>
            </a:pPr>
            <a:r>
              <a:rPr lang="en-US" sz="430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Instant  Results: Delivers personalized verdicts (SAFE / CAUTION / AVOID) 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582</Words>
  <Application>Microsoft Office PowerPoint</Application>
  <PresentationFormat>Custom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Roboto Condensed Bold</vt:lpstr>
      <vt:lpstr>Roboto</vt:lpstr>
      <vt:lpstr>Calibri</vt:lpstr>
      <vt:lpstr>Roboto Condensed</vt:lpstr>
      <vt:lpstr>Roboto Bold</vt:lpstr>
      <vt:lpstr>PT 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 LENS AI</dc:title>
  <cp:lastModifiedBy>_.chintuuu ___1816</cp:lastModifiedBy>
  <cp:revision>2</cp:revision>
  <dcterms:created xsi:type="dcterms:W3CDTF">2006-08-16T00:00:00Z</dcterms:created>
  <dcterms:modified xsi:type="dcterms:W3CDTF">2026-10-27T04:28:33Z</dcterms:modified>
  <dc:identifier>DAHY7nkKByw</dc:identifier>
</cp:coreProperties>
</file>