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nantason Bold" charset="1" panose="00000000000000000000"/>
      <p:regular r:id="rId17"/>
    </p:embeddedFont>
    <p:embeddedFont>
      <p:font typeface="Cloud Bold" charset="1" panose="02000000000000000000"/>
      <p:regular r:id="rId18"/>
    </p:embeddedFont>
    <p:embeddedFont>
      <p:font typeface="Cloud" charset="1" panose="02000000000000000000"/>
      <p:regular r:id="rId19"/>
    </p:embeddedFont>
    <p:embeddedFont>
      <p:font typeface="Canva Sans Bold" charset="1" panose="020B0803030501040103"/>
      <p:regular r:id="rId20"/>
    </p:embeddedFont>
    <p:embeddedFont>
      <p:font typeface="Canva Sans" charset="1" panose="020B0503030501040103"/>
      <p:regular r:id="rId21"/>
    </p:embeddedFont>
    <p:embeddedFont>
      <p:font typeface="Canva Sans Medium" charset="1" panose="020B06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05520">
            <a:off x="-3422666" y="2037636"/>
            <a:ext cx="5987225" cy="5998131"/>
          </a:xfrm>
          <a:custGeom>
            <a:avLst/>
            <a:gdLst/>
            <a:ahLst/>
            <a:cxnLst/>
            <a:rect r="r" b="b" t="t" l="l"/>
            <a:pathLst>
              <a:path h="5998131" w="5987225">
                <a:moveTo>
                  <a:pt x="0" y="0"/>
                </a:moveTo>
                <a:lnTo>
                  <a:pt x="5987225" y="0"/>
                </a:lnTo>
                <a:lnTo>
                  <a:pt x="5987225" y="5998130"/>
                </a:lnTo>
                <a:lnTo>
                  <a:pt x="0" y="5998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1" t="0" r="-11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8411280">
            <a:off x="15717069" y="2144430"/>
            <a:ext cx="5987224" cy="5998131"/>
          </a:xfrm>
          <a:custGeom>
            <a:avLst/>
            <a:gdLst/>
            <a:ahLst/>
            <a:cxnLst/>
            <a:rect r="r" b="b" t="t" l="l"/>
            <a:pathLst>
              <a:path h="5998131" w="5987224">
                <a:moveTo>
                  <a:pt x="5987225" y="5998131"/>
                </a:moveTo>
                <a:lnTo>
                  <a:pt x="0" y="5998131"/>
                </a:lnTo>
                <a:lnTo>
                  <a:pt x="0" y="0"/>
                </a:lnTo>
                <a:lnTo>
                  <a:pt x="5987225" y="0"/>
                </a:lnTo>
                <a:lnTo>
                  <a:pt x="5987225" y="599813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1" t="0" r="-1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488840">
            <a:off x="-221066" y="7727728"/>
            <a:ext cx="3071031" cy="5804354"/>
          </a:xfrm>
          <a:custGeom>
            <a:avLst/>
            <a:gdLst/>
            <a:ahLst/>
            <a:cxnLst/>
            <a:rect r="r" b="b" t="t" l="l"/>
            <a:pathLst>
              <a:path h="5804354" w="3071031">
                <a:moveTo>
                  <a:pt x="0" y="0"/>
                </a:moveTo>
                <a:lnTo>
                  <a:pt x="3071032" y="0"/>
                </a:lnTo>
                <a:lnTo>
                  <a:pt x="3071032" y="5804354"/>
                </a:lnTo>
                <a:lnTo>
                  <a:pt x="0" y="58043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2" r="0" b="-4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488840">
            <a:off x="17178166" y="-1873472"/>
            <a:ext cx="3071031" cy="5804354"/>
          </a:xfrm>
          <a:custGeom>
            <a:avLst/>
            <a:gdLst/>
            <a:ahLst/>
            <a:cxnLst/>
            <a:rect r="r" b="b" t="t" l="l"/>
            <a:pathLst>
              <a:path h="5804354" w="3071031">
                <a:moveTo>
                  <a:pt x="0" y="0"/>
                </a:moveTo>
                <a:lnTo>
                  <a:pt x="3071032" y="0"/>
                </a:lnTo>
                <a:lnTo>
                  <a:pt x="3071032" y="5804354"/>
                </a:lnTo>
                <a:lnTo>
                  <a:pt x="0" y="58043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2" r="0" b="-42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227709" y="462096"/>
            <a:ext cx="2015700" cy="1528486"/>
            <a:chOff x="0" y="0"/>
            <a:chExt cx="2687599" cy="20379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87574" cy="2037969"/>
            </a:xfrm>
            <a:custGeom>
              <a:avLst/>
              <a:gdLst/>
              <a:ahLst/>
              <a:cxnLst/>
              <a:rect r="r" b="b" t="t" l="l"/>
              <a:pathLst>
                <a:path h="2037969" w="2687574">
                  <a:moveTo>
                    <a:pt x="0" y="0"/>
                  </a:moveTo>
                  <a:lnTo>
                    <a:pt x="2687574" y="0"/>
                  </a:lnTo>
                  <a:lnTo>
                    <a:pt x="2687574" y="2037969"/>
                  </a:lnTo>
                  <a:lnTo>
                    <a:pt x="0" y="2037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3052" t="0" r="-73053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77911" y="264452"/>
            <a:ext cx="7198281" cy="1923774"/>
            <a:chOff x="0" y="0"/>
            <a:chExt cx="9597708" cy="25650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97644" cy="2565019"/>
            </a:xfrm>
            <a:custGeom>
              <a:avLst/>
              <a:gdLst/>
              <a:ahLst/>
              <a:cxnLst/>
              <a:rect r="r" b="b" t="t" l="l"/>
              <a:pathLst>
                <a:path h="2565019" w="9597644">
                  <a:moveTo>
                    <a:pt x="0" y="0"/>
                  </a:moveTo>
                  <a:lnTo>
                    <a:pt x="9597644" y="0"/>
                  </a:lnTo>
                  <a:lnTo>
                    <a:pt x="9597644" y="2565019"/>
                  </a:lnTo>
                  <a:lnTo>
                    <a:pt x="0" y="256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45" r="0" b="-764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205526" y="2160327"/>
            <a:ext cx="9876949" cy="178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69"/>
              </a:lnSpc>
            </a:pPr>
            <a:r>
              <a:rPr lang="en-US" sz="9477" b="true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NUTRI LENS AI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43409" y="3755765"/>
            <a:ext cx="6490897" cy="86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2"/>
              </a:lnSpc>
            </a:pPr>
            <a:r>
              <a:rPr lang="en-US" sz="4473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Presented by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17653" y="4743764"/>
            <a:ext cx="6404905" cy="647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61"/>
              </a:lnSpc>
            </a:pPr>
            <a:r>
              <a:rPr lang="en-US" sz="3258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K PREM KUMAR</a:t>
            </a:r>
            <a:r>
              <a:rPr lang="en-US" sz="3258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[24BK1A66BM]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17653" y="5238436"/>
            <a:ext cx="6404905" cy="647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61"/>
              </a:lnSpc>
            </a:pPr>
            <a:r>
              <a:rPr lang="en-US" sz="3258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NIRANJAN SINGH</a:t>
            </a:r>
            <a:r>
              <a:rPr lang="en-US" sz="3258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[24BK1A66BX]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17653" y="5733117"/>
            <a:ext cx="6404905" cy="647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61"/>
              </a:lnSpc>
            </a:pPr>
            <a:r>
              <a:rPr lang="en-US" sz="3258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PRINCE PATEL</a:t>
            </a:r>
            <a:r>
              <a:rPr lang="en-US" sz="3258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[24BK1A66CH]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90793" y="7863973"/>
            <a:ext cx="5938142" cy="1181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0"/>
              </a:lnSpc>
            </a:pPr>
            <a:r>
              <a:rPr lang="en-US" sz="3137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SEMINAR OVERALL COORDINATOR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401371" y="7863973"/>
            <a:ext cx="3608575" cy="627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0"/>
              </a:lnSpc>
            </a:pPr>
            <a:r>
              <a:rPr lang="en-US" sz="3137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HOD-CSE(AIML)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4633" y="7863973"/>
            <a:ext cx="3608575" cy="627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0"/>
              </a:lnSpc>
            </a:pPr>
            <a:r>
              <a:rPr lang="en-US" sz="3137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GUIDE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4633" y="8893397"/>
            <a:ext cx="3608575" cy="625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0"/>
              </a:lnSpc>
            </a:pPr>
            <a:r>
              <a:rPr lang="en-US" sz="3137">
                <a:solidFill>
                  <a:srgbClr val="F68120"/>
                </a:solidFill>
                <a:latin typeface="Cloud"/>
                <a:ea typeface="Cloud"/>
                <a:cs typeface="Cloud"/>
                <a:sym typeface="Cloud"/>
              </a:rPr>
              <a:t>Mrs K Katyayani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11100" y="8853554"/>
            <a:ext cx="5779618" cy="54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0"/>
              </a:lnSpc>
            </a:pPr>
            <a:r>
              <a:rPr lang="en-US" sz="3137">
                <a:solidFill>
                  <a:srgbClr val="F68120"/>
                </a:solidFill>
                <a:latin typeface="Cloud"/>
                <a:ea typeface="Cloud"/>
                <a:cs typeface="Cloud"/>
                <a:sym typeface="Cloud"/>
              </a:rPr>
              <a:t>Dr. P. Deepan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1" y="6515100"/>
            <a:ext cx="7059482" cy="4114800"/>
          </a:xfrm>
          <a:custGeom>
            <a:avLst/>
            <a:gdLst/>
            <a:ahLst/>
            <a:cxnLst/>
            <a:rect r="r" b="b" t="t" l="l"/>
            <a:pathLst>
              <a:path h="4114800" w="7059482">
                <a:moveTo>
                  <a:pt x="0" y="0"/>
                </a:moveTo>
                <a:lnTo>
                  <a:pt x="7059482" y="0"/>
                </a:lnTo>
                <a:lnTo>
                  <a:pt x="70594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8" r="0" b="-5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6" y="-357188"/>
            <a:ext cx="7059482" cy="4114800"/>
          </a:xfrm>
          <a:custGeom>
            <a:avLst/>
            <a:gdLst/>
            <a:ahLst/>
            <a:cxnLst/>
            <a:rect r="r" b="b" t="t" l="l"/>
            <a:pathLst>
              <a:path h="4114800" w="7059482">
                <a:moveTo>
                  <a:pt x="705948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82" y="0"/>
                </a:lnTo>
                <a:lnTo>
                  <a:pt x="705948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8" r="0" b="-5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40">
            <a:off x="-1222248" y="-3356258"/>
            <a:ext cx="5987225" cy="5998131"/>
          </a:xfrm>
          <a:custGeom>
            <a:avLst/>
            <a:gdLst/>
            <a:ahLst/>
            <a:cxnLst/>
            <a:rect r="r" b="b" t="t" l="l"/>
            <a:pathLst>
              <a:path h="5998131" w="5987225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" t="0" r="-11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39355" y="2108768"/>
            <a:ext cx="10009289" cy="1824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5"/>
              </a:lnSpc>
            </a:pPr>
            <a:r>
              <a:rPr lang="en-US" sz="9603" b="true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INTRODUCTION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-5002140">
            <a:off x="14265688" y="7630830"/>
            <a:ext cx="5987225" cy="5998131"/>
          </a:xfrm>
          <a:custGeom>
            <a:avLst/>
            <a:gdLst/>
            <a:ahLst/>
            <a:cxnLst/>
            <a:rect r="r" b="b" t="t" l="l"/>
            <a:pathLst>
              <a:path h="5998131" w="5987225">
                <a:moveTo>
                  <a:pt x="5987224" y="5998131"/>
                </a:moveTo>
                <a:lnTo>
                  <a:pt x="0" y="5998131"/>
                </a:lnTo>
                <a:lnTo>
                  <a:pt x="0" y="0"/>
                </a:lnTo>
                <a:lnTo>
                  <a:pt x="5987224" y="0"/>
                </a:lnTo>
                <a:lnTo>
                  <a:pt x="5987224" y="599813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" t="0" r="-11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63429" y="4048763"/>
            <a:ext cx="14830644" cy="3159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9977" indent="-266659" lvl="2">
              <a:lnSpc>
                <a:spcPts val="4898"/>
              </a:lnSpc>
              <a:buFont typeface="Arial"/>
              <a:buChar char="⚬"/>
            </a:pPr>
            <a:r>
              <a:rPr lang="en-US" b="true" sz="3498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NUTRI LENS AI </a:t>
            </a:r>
            <a:r>
              <a:rPr lang="en-US" sz="3498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Helps people understand packaged food labels according to their health needs.</a:t>
            </a:r>
          </a:p>
          <a:p>
            <a:pPr algn="l" marL="799977" indent="-266659" lvl="2">
              <a:lnSpc>
                <a:spcPts val="4898"/>
              </a:lnSpc>
            </a:pPr>
          </a:p>
          <a:p>
            <a:pPr algn="l" marL="799977" indent="-266659" lvl="2">
              <a:lnSpc>
                <a:spcPts val="4898"/>
              </a:lnSpc>
              <a:buFont typeface="Arial"/>
              <a:buChar char="⚬"/>
            </a:pPr>
            <a:r>
              <a:rPr lang="en-US" sz="3498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It explains the ingredients, highlights possible risks and suggests healtheir food choices.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7488840">
            <a:off x="-221066" y="7727728"/>
            <a:ext cx="3071031" cy="5804354"/>
          </a:xfrm>
          <a:custGeom>
            <a:avLst/>
            <a:gdLst/>
            <a:ahLst/>
            <a:cxnLst/>
            <a:rect r="r" b="b" t="t" l="l"/>
            <a:pathLst>
              <a:path h="5804354" w="3071031">
                <a:moveTo>
                  <a:pt x="0" y="0"/>
                </a:moveTo>
                <a:lnTo>
                  <a:pt x="3071032" y="0"/>
                </a:lnTo>
                <a:lnTo>
                  <a:pt x="3071032" y="5804354"/>
                </a:lnTo>
                <a:lnTo>
                  <a:pt x="0" y="58043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2" r="0" b="-42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488840">
            <a:off x="17178166" y="-1873472"/>
            <a:ext cx="3071031" cy="5804354"/>
          </a:xfrm>
          <a:custGeom>
            <a:avLst/>
            <a:gdLst/>
            <a:ahLst/>
            <a:cxnLst/>
            <a:rect r="r" b="b" t="t" l="l"/>
            <a:pathLst>
              <a:path h="5804354" w="3071031">
                <a:moveTo>
                  <a:pt x="0" y="0"/>
                </a:moveTo>
                <a:lnTo>
                  <a:pt x="3071032" y="0"/>
                </a:lnTo>
                <a:lnTo>
                  <a:pt x="3071032" y="5804354"/>
                </a:lnTo>
                <a:lnTo>
                  <a:pt x="0" y="58043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2" r="0" b="-42"/>
            </a:stretch>
          </a:blipFill>
        </p:spPr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1" y="6515100"/>
            <a:ext cx="7059482" cy="4114800"/>
          </a:xfrm>
          <a:custGeom>
            <a:avLst/>
            <a:gdLst/>
            <a:ahLst/>
            <a:cxnLst/>
            <a:rect r="r" b="b" t="t" l="l"/>
            <a:pathLst>
              <a:path h="4114800" w="7059482">
                <a:moveTo>
                  <a:pt x="0" y="0"/>
                </a:moveTo>
                <a:lnTo>
                  <a:pt x="7059482" y="0"/>
                </a:lnTo>
                <a:lnTo>
                  <a:pt x="70594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8" r="0" b="-5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6" y="-357188"/>
            <a:ext cx="7059482" cy="4114800"/>
          </a:xfrm>
          <a:custGeom>
            <a:avLst/>
            <a:gdLst/>
            <a:ahLst/>
            <a:cxnLst/>
            <a:rect r="r" b="b" t="t" l="l"/>
            <a:pathLst>
              <a:path h="4114800" w="7059482">
                <a:moveTo>
                  <a:pt x="705948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82" y="0"/>
                </a:lnTo>
                <a:lnTo>
                  <a:pt x="705948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8" r="0" b="-5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40">
            <a:off x="-1222248" y="-3356258"/>
            <a:ext cx="5987225" cy="5998131"/>
          </a:xfrm>
          <a:custGeom>
            <a:avLst/>
            <a:gdLst/>
            <a:ahLst/>
            <a:cxnLst/>
            <a:rect r="r" b="b" t="t" l="l"/>
            <a:pathLst>
              <a:path h="5998131" w="5987225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" t="0" r="-11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40">
            <a:off x="14265688" y="7630830"/>
            <a:ext cx="5987225" cy="5998131"/>
          </a:xfrm>
          <a:custGeom>
            <a:avLst/>
            <a:gdLst/>
            <a:ahLst/>
            <a:cxnLst/>
            <a:rect r="r" b="b" t="t" l="l"/>
            <a:pathLst>
              <a:path h="5998131" w="5987225">
                <a:moveTo>
                  <a:pt x="5987224" y="5998131"/>
                </a:moveTo>
                <a:lnTo>
                  <a:pt x="0" y="5998131"/>
                </a:lnTo>
                <a:lnTo>
                  <a:pt x="0" y="0"/>
                </a:lnTo>
                <a:lnTo>
                  <a:pt x="5987224" y="0"/>
                </a:lnTo>
                <a:lnTo>
                  <a:pt x="5987224" y="599813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" t="0" r="-1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40">
            <a:off x="-221066" y="7727728"/>
            <a:ext cx="3071031" cy="5804354"/>
          </a:xfrm>
          <a:custGeom>
            <a:avLst/>
            <a:gdLst/>
            <a:ahLst/>
            <a:cxnLst/>
            <a:rect r="r" b="b" t="t" l="l"/>
            <a:pathLst>
              <a:path h="5804354" w="3071031">
                <a:moveTo>
                  <a:pt x="0" y="0"/>
                </a:moveTo>
                <a:lnTo>
                  <a:pt x="3071032" y="0"/>
                </a:lnTo>
                <a:lnTo>
                  <a:pt x="3071032" y="5804354"/>
                </a:lnTo>
                <a:lnTo>
                  <a:pt x="0" y="58043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2" r="0" b="-4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40">
            <a:off x="17178166" y="-1873472"/>
            <a:ext cx="3071031" cy="5804354"/>
          </a:xfrm>
          <a:custGeom>
            <a:avLst/>
            <a:gdLst/>
            <a:ahLst/>
            <a:cxnLst/>
            <a:rect r="r" b="b" t="t" l="l"/>
            <a:pathLst>
              <a:path h="5804354" w="3071031">
                <a:moveTo>
                  <a:pt x="0" y="0"/>
                </a:moveTo>
                <a:lnTo>
                  <a:pt x="3071032" y="0"/>
                </a:lnTo>
                <a:lnTo>
                  <a:pt x="3071032" y="5804354"/>
                </a:lnTo>
                <a:lnTo>
                  <a:pt x="0" y="58043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2" r="0" b="-4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05130" y="1746814"/>
            <a:ext cx="11943944" cy="1215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54"/>
              </a:lnSpc>
            </a:pPr>
            <a:r>
              <a:rPr lang="en-US" sz="7109" b="true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DOMAIN OF THE 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95525" y="4384389"/>
            <a:ext cx="13535188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0C35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Health tech / Digital Health tech</a:t>
            </a:r>
          </a:p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0C35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Artificial Intelligence , Optical Character Recognition 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1" y="6515100"/>
            <a:ext cx="7059482" cy="4114800"/>
          </a:xfrm>
          <a:custGeom>
            <a:avLst/>
            <a:gdLst/>
            <a:ahLst/>
            <a:cxnLst/>
            <a:rect r="r" b="b" t="t" l="l"/>
            <a:pathLst>
              <a:path h="4114800" w="7059482">
                <a:moveTo>
                  <a:pt x="0" y="0"/>
                </a:moveTo>
                <a:lnTo>
                  <a:pt x="7059482" y="0"/>
                </a:lnTo>
                <a:lnTo>
                  <a:pt x="70594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8" r="0" b="-5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6" y="-357188"/>
            <a:ext cx="7059482" cy="4114800"/>
          </a:xfrm>
          <a:custGeom>
            <a:avLst/>
            <a:gdLst/>
            <a:ahLst/>
            <a:cxnLst/>
            <a:rect r="r" b="b" t="t" l="l"/>
            <a:pathLst>
              <a:path h="4114800" w="7059482">
                <a:moveTo>
                  <a:pt x="705948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82" y="0"/>
                </a:lnTo>
                <a:lnTo>
                  <a:pt x="705948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8" r="0" b="-5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40">
            <a:off x="-1222248" y="-3356258"/>
            <a:ext cx="5987225" cy="5998131"/>
          </a:xfrm>
          <a:custGeom>
            <a:avLst/>
            <a:gdLst/>
            <a:ahLst/>
            <a:cxnLst/>
            <a:rect r="r" b="b" t="t" l="l"/>
            <a:pathLst>
              <a:path h="5998131" w="5987225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" t="0" r="-11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40">
            <a:off x="14265688" y="7630830"/>
            <a:ext cx="5987225" cy="5998131"/>
          </a:xfrm>
          <a:custGeom>
            <a:avLst/>
            <a:gdLst/>
            <a:ahLst/>
            <a:cxnLst/>
            <a:rect r="r" b="b" t="t" l="l"/>
            <a:pathLst>
              <a:path h="5998131" w="5987225">
                <a:moveTo>
                  <a:pt x="5987224" y="5998131"/>
                </a:moveTo>
                <a:lnTo>
                  <a:pt x="0" y="5998131"/>
                </a:lnTo>
                <a:lnTo>
                  <a:pt x="0" y="0"/>
                </a:lnTo>
                <a:lnTo>
                  <a:pt x="5987224" y="0"/>
                </a:lnTo>
                <a:lnTo>
                  <a:pt x="5987224" y="599813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" t="0" r="-1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40">
            <a:off x="-221066" y="7727728"/>
            <a:ext cx="3071031" cy="5804354"/>
          </a:xfrm>
          <a:custGeom>
            <a:avLst/>
            <a:gdLst/>
            <a:ahLst/>
            <a:cxnLst/>
            <a:rect r="r" b="b" t="t" l="l"/>
            <a:pathLst>
              <a:path h="5804354" w="3071031">
                <a:moveTo>
                  <a:pt x="0" y="0"/>
                </a:moveTo>
                <a:lnTo>
                  <a:pt x="3071032" y="0"/>
                </a:lnTo>
                <a:lnTo>
                  <a:pt x="3071032" y="5804354"/>
                </a:lnTo>
                <a:lnTo>
                  <a:pt x="0" y="58043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2" r="0" b="-4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40">
            <a:off x="17178166" y="-1873472"/>
            <a:ext cx="3071031" cy="5804354"/>
          </a:xfrm>
          <a:custGeom>
            <a:avLst/>
            <a:gdLst/>
            <a:ahLst/>
            <a:cxnLst/>
            <a:rect r="r" b="b" t="t" l="l"/>
            <a:pathLst>
              <a:path h="5804354" w="3071031">
                <a:moveTo>
                  <a:pt x="0" y="0"/>
                </a:moveTo>
                <a:lnTo>
                  <a:pt x="3071032" y="0"/>
                </a:lnTo>
                <a:lnTo>
                  <a:pt x="3071032" y="5804354"/>
                </a:lnTo>
                <a:lnTo>
                  <a:pt x="0" y="58043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2" r="0" b="-4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55324" y="1497435"/>
            <a:ext cx="14177353" cy="1824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5"/>
              </a:lnSpc>
            </a:pPr>
            <a:r>
              <a:rPr lang="en-US" sz="9603" b="true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53922" y="3567112"/>
            <a:ext cx="13843587" cy="4792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9371" indent="-289790" lvl="2">
              <a:lnSpc>
                <a:spcPts val="5324"/>
              </a:lnSpc>
              <a:buFont typeface="Arial"/>
              <a:buChar char="⚬"/>
            </a:pPr>
            <a:r>
              <a:rPr lang="en-US" sz="3803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Food labels are often difficult to understand.</a:t>
            </a:r>
          </a:p>
          <a:p>
            <a:pPr algn="just" marL="869371" indent="-289790" lvl="2">
              <a:lnSpc>
                <a:spcPts val="5324"/>
              </a:lnSpc>
              <a:buFont typeface="Arial"/>
              <a:buChar char="⚬"/>
            </a:pPr>
            <a:r>
              <a:rPr lang="en-US" sz="3803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Users may not know how ingredients affect their health.</a:t>
            </a:r>
          </a:p>
          <a:p>
            <a:pPr algn="just" marL="869371" indent="-289790" lvl="2">
              <a:lnSpc>
                <a:spcPts val="5324"/>
              </a:lnSpc>
              <a:buFont typeface="Arial"/>
              <a:buChar char="⚬"/>
            </a:pPr>
            <a:r>
              <a:rPr lang="en-US" sz="3803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People with conditions like diabetes, high BP, or allergies need personalized food guidance.</a:t>
            </a:r>
          </a:p>
          <a:p>
            <a:pPr algn="just" marL="869371" indent="-289790" lvl="2">
              <a:lnSpc>
                <a:spcPts val="5324"/>
              </a:lnSpc>
              <a:buFont typeface="Arial"/>
              <a:buChar char="⚬"/>
            </a:pPr>
            <a:r>
              <a:rPr lang="en-US" sz="3803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A simple system is needed to explain labels and suggest healthier options.</a:t>
            </a:r>
          </a:p>
          <a:p>
            <a:pPr algn="just" marL="869371" indent="-289790" lvl="2">
              <a:lnSpc>
                <a:spcPts val="5324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1" y="6515100"/>
            <a:ext cx="7059482" cy="4114800"/>
          </a:xfrm>
          <a:custGeom>
            <a:avLst/>
            <a:gdLst/>
            <a:ahLst/>
            <a:cxnLst/>
            <a:rect r="r" b="b" t="t" l="l"/>
            <a:pathLst>
              <a:path h="4114800" w="7059482">
                <a:moveTo>
                  <a:pt x="0" y="0"/>
                </a:moveTo>
                <a:lnTo>
                  <a:pt x="7059482" y="0"/>
                </a:lnTo>
                <a:lnTo>
                  <a:pt x="70594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8" r="0" b="-5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6" y="-357188"/>
            <a:ext cx="7059482" cy="4114800"/>
          </a:xfrm>
          <a:custGeom>
            <a:avLst/>
            <a:gdLst/>
            <a:ahLst/>
            <a:cxnLst/>
            <a:rect r="r" b="b" t="t" l="l"/>
            <a:pathLst>
              <a:path h="4114800" w="7059482">
                <a:moveTo>
                  <a:pt x="705948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82" y="0"/>
                </a:lnTo>
                <a:lnTo>
                  <a:pt x="705948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8" r="0" b="-5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40">
            <a:off x="-1222248" y="-3356258"/>
            <a:ext cx="5987225" cy="5998131"/>
          </a:xfrm>
          <a:custGeom>
            <a:avLst/>
            <a:gdLst/>
            <a:ahLst/>
            <a:cxnLst/>
            <a:rect r="r" b="b" t="t" l="l"/>
            <a:pathLst>
              <a:path h="5998131" w="5987225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" t="0" r="-11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40">
            <a:off x="14265688" y="7630830"/>
            <a:ext cx="5987225" cy="5998131"/>
          </a:xfrm>
          <a:custGeom>
            <a:avLst/>
            <a:gdLst/>
            <a:ahLst/>
            <a:cxnLst/>
            <a:rect r="r" b="b" t="t" l="l"/>
            <a:pathLst>
              <a:path h="5998131" w="5987225">
                <a:moveTo>
                  <a:pt x="5987224" y="5998131"/>
                </a:moveTo>
                <a:lnTo>
                  <a:pt x="0" y="5998131"/>
                </a:lnTo>
                <a:lnTo>
                  <a:pt x="0" y="0"/>
                </a:lnTo>
                <a:lnTo>
                  <a:pt x="5987224" y="0"/>
                </a:lnTo>
                <a:lnTo>
                  <a:pt x="5987224" y="599813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" t="0" r="-1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40">
            <a:off x="-221066" y="7727728"/>
            <a:ext cx="3071031" cy="5804354"/>
          </a:xfrm>
          <a:custGeom>
            <a:avLst/>
            <a:gdLst/>
            <a:ahLst/>
            <a:cxnLst/>
            <a:rect r="r" b="b" t="t" l="l"/>
            <a:pathLst>
              <a:path h="5804354" w="3071031">
                <a:moveTo>
                  <a:pt x="0" y="0"/>
                </a:moveTo>
                <a:lnTo>
                  <a:pt x="3071032" y="0"/>
                </a:lnTo>
                <a:lnTo>
                  <a:pt x="3071032" y="5804354"/>
                </a:lnTo>
                <a:lnTo>
                  <a:pt x="0" y="58043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2" r="0" b="-4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40">
            <a:off x="17178166" y="-1873472"/>
            <a:ext cx="3071031" cy="5804354"/>
          </a:xfrm>
          <a:custGeom>
            <a:avLst/>
            <a:gdLst/>
            <a:ahLst/>
            <a:cxnLst/>
            <a:rect r="r" b="b" t="t" l="l"/>
            <a:pathLst>
              <a:path h="5804354" w="3071031">
                <a:moveTo>
                  <a:pt x="0" y="0"/>
                </a:moveTo>
                <a:lnTo>
                  <a:pt x="3071032" y="0"/>
                </a:lnTo>
                <a:lnTo>
                  <a:pt x="3071032" y="5804354"/>
                </a:lnTo>
                <a:lnTo>
                  <a:pt x="0" y="58043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2" r="0" b="-4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68326" y="917315"/>
            <a:ext cx="10249643" cy="2840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59"/>
              </a:lnSpc>
            </a:pPr>
            <a:r>
              <a:rPr lang="en-US" sz="7685" b="true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OBJECTIVE OF THE STUDY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39859" y="4029599"/>
            <a:ext cx="14608292" cy="3066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9" indent="-259040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To read and analyze food labels using AI and OCR</a:t>
            </a:r>
          </a:p>
          <a:p>
            <a:pPr algn="l" marL="777119" indent="-259040" lvl="2">
              <a:lnSpc>
                <a:spcPts val="4759"/>
              </a:lnSpc>
            </a:pPr>
          </a:p>
          <a:p>
            <a:pPr algn="l" marL="777119" indent="-259040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To explain the food’s health effects based on the user’s health profile</a:t>
            </a:r>
          </a:p>
          <a:p>
            <a:pPr algn="l" marL="777119" indent="-259040" lvl="2">
              <a:lnSpc>
                <a:spcPts val="4759"/>
              </a:lnSpc>
            </a:pPr>
          </a:p>
          <a:p>
            <a:pPr algn="l" marL="777119" indent="-259040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To suggest healthier alternatives for better food choices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27718" y="-2885761"/>
            <a:ext cx="24700759" cy="16835542"/>
            <a:chOff x="0" y="0"/>
            <a:chExt cx="32934345" cy="224473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804138" y="12534481"/>
              <a:ext cx="9412637" cy="5486400"/>
            </a:xfrm>
            <a:custGeom>
              <a:avLst/>
              <a:gdLst/>
              <a:ahLst/>
              <a:cxnLst/>
              <a:rect r="r" b="b" t="t" l="l"/>
              <a:pathLst>
                <a:path h="5486400" w="9412637">
                  <a:moveTo>
                    <a:pt x="0" y="0"/>
                  </a:moveTo>
                  <a:lnTo>
                    <a:pt x="9412638" y="0"/>
                  </a:lnTo>
                  <a:lnTo>
                    <a:pt x="941263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true" rot="0">
              <a:off x="19536388" y="3371431"/>
              <a:ext cx="9412637" cy="5486400"/>
            </a:xfrm>
            <a:custGeom>
              <a:avLst/>
              <a:gdLst/>
              <a:ahLst/>
              <a:cxnLst/>
              <a:rect r="r" b="b" t="t" l="l"/>
              <a:pathLst>
                <a:path h="5486400" w="9412637">
                  <a:moveTo>
                    <a:pt x="9412638" y="5486400"/>
                  </a:moveTo>
                  <a:lnTo>
                    <a:pt x="0" y="5486400"/>
                  </a:lnTo>
                  <a:lnTo>
                    <a:pt x="0" y="0"/>
                  </a:lnTo>
                  <a:lnTo>
                    <a:pt x="9412638" y="0"/>
                  </a:lnTo>
                  <a:lnTo>
                    <a:pt x="9412638" y="548640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5002168">
              <a:off x="441407" y="427754"/>
              <a:ext cx="7982968" cy="7997509"/>
            </a:xfrm>
            <a:custGeom>
              <a:avLst/>
              <a:gdLst/>
              <a:ahLst/>
              <a:cxnLst/>
              <a:rect r="r" b="b" t="t" l="l"/>
              <a:pathLst>
                <a:path h="7997509" w="7982968">
                  <a:moveTo>
                    <a:pt x="0" y="0"/>
                  </a:moveTo>
                  <a:lnTo>
                    <a:pt x="7982967" y="0"/>
                  </a:lnTo>
                  <a:lnTo>
                    <a:pt x="7982967" y="7997508"/>
                  </a:lnTo>
                  <a:lnTo>
                    <a:pt x="0" y="7997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true" rot="-5002168">
              <a:off x="22657873" y="14022127"/>
              <a:ext cx="7982968" cy="7997509"/>
            </a:xfrm>
            <a:custGeom>
              <a:avLst/>
              <a:gdLst/>
              <a:ahLst/>
              <a:cxnLst/>
              <a:rect r="r" b="b" t="t" l="l"/>
              <a:pathLst>
                <a:path h="7997509" w="7982968">
                  <a:moveTo>
                    <a:pt x="7982968" y="7997508"/>
                  </a:moveTo>
                  <a:lnTo>
                    <a:pt x="0" y="7997508"/>
                  </a:lnTo>
                  <a:lnTo>
                    <a:pt x="0" y="0"/>
                  </a:lnTo>
                  <a:lnTo>
                    <a:pt x="7982968" y="0"/>
                  </a:lnTo>
                  <a:lnTo>
                    <a:pt x="7982968" y="7997508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7488824">
              <a:off x="3342204" y="14151313"/>
              <a:ext cx="4094707" cy="7739137"/>
            </a:xfrm>
            <a:custGeom>
              <a:avLst/>
              <a:gdLst/>
              <a:ahLst/>
              <a:cxnLst/>
              <a:rect r="r" b="b" t="t" l="l"/>
              <a:pathLst>
                <a:path h="7739137" w="4094707">
                  <a:moveTo>
                    <a:pt x="0" y="0"/>
                  </a:moveTo>
                  <a:lnTo>
                    <a:pt x="4094707" y="0"/>
                  </a:lnTo>
                  <a:lnTo>
                    <a:pt x="4094707" y="7739137"/>
                  </a:lnTo>
                  <a:lnTo>
                    <a:pt x="0" y="77391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7488824">
              <a:off x="26541172" y="1349713"/>
              <a:ext cx="4094707" cy="7739137"/>
            </a:xfrm>
            <a:custGeom>
              <a:avLst/>
              <a:gdLst/>
              <a:ahLst/>
              <a:cxnLst/>
              <a:rect r="r" b="b" t="t" l="l"/>
              <a:pathLst>
                <a:path h="7739137" w="4094707">
                  <a:moveTo>
                    <a:pt x="0" y="0"/>
                  </a:moveTo>
                  <a:lnTo>
                    <a:pt x="4094707" y="0"/>
                  </a:lnTo>
                  <a:lnTo>
                    <a:pt x="4094707" y="7739137"/>
                  </a:lnTo>
                  <a:lnTo>
                    <a:pt x="0" y="77391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7100030" y="5933656"/>
              <a:ext cx="17566068" cy="21307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446"/>
                </a:lnSpc>
              </a:pPr>
              <a:r>
                <a:rPr lang="en-US" b="true" sz="9604">
                  <a:solidFill>
                    <a:srgbClr val="0C3571"/>
                  </a:solidFill>
                  <a:latin typeface="Anantason Bold"/>
                  <a:ea typeface="Anantason Bold"/>
                  <a:cs typeface="Anantason Bold"/>
                  <a:sym typeface="Anantason Bold"/>
                </a:rPr>
                <a:t>SYSTEM WORK FLOW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3636957" y="8853016"/>
              <a:ext cx="1992923" cy="1477108"/>
              <a:chOff x="0" y="0"/>
              <a:chExt cx="2159000" cy="16002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159000" cy="1600200"/>
              </a:xfrm>
              <a:custGeom>
                <a:avLst/>
                <a:gdLst/>
                <a:ahLst/>
                <a:cxnLst/>
                <a:rect r="r" b="b" t="t" l="l"/>
                <a:pathLst>
                  <a:path h="1600200" w="2159000">
                    <a:moveTo>
                      <a:pt x="0" y="800100"/>
                    </a:moveTo>
                    <a:cubicBezTo>
                      <a:pt x="0" y="1241983"/>
                      <a:pt x="483309" y="1600200"/>
                      <a:pt x="1079500" y="1600200"/>
                    </a:cubicBezTo>
                    <a:cubicBezTo>
                      <a:pt x="1675691" y="1600200"/>
                      <a:pt x="2159000" y="1241983"/>
                      <a:pt x="2159000" y="800100"/>
                    </a:cubicBezTo>
                    <a:cubicBezTo>
                      <a:pt x="2159000" y="358217"/>
                      <a:pt x="1675691" y="0"/>
                      <a:pt x="1079500" y="0"/>
                    </a:cubicBezTo>
                    <a:cubicBezTo>
                      <a:pt x="483309" y="0"/>
                      <a:pt x="0" y="358217"/>
                      <a:pt x="0" y="800100"/>
                    </a:cubicBezTo>
                    <a:close/>
                  </a:path>
                </a:pathLst>
              </a:custGeom>
              <a:solidFill>
                <a:srgbClr val="0C3571"/>
              </a:solidFill>
              <a:ln w="38100" cap="sq">
                <a:solidFill>
                  <a:srgbClr val="0C3571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2159000" cy="1657350"/>
              </a:xfrm>
              <a:prstGeom prst="rect">
                <a:avLst/>
              </a:prstGeom>
            </p:spPr>
            <p:txBody>
              <a:bodyPr anchor="ctr" rtlCol="false" tIns="46892" lIns="46892" bIns="46892" rIns="46892"/>
              <a:lstStyle/>
              <a:p>
                <a:pPr algn="ctr">
                  <a:lnSpc>
                    <a:spcPts val="2703"/>
                  </a:lnSpc>
                </a:pPr>
                <a:r>
                  <a:rPr lang="en-US" sz="1930" b="true">
                    <a:solidFill>
                      <a:srgbClr val="FFFFFF"/>
                    </a:solidFill>
                    <a:latin typeface="Cloud Bold"/>
                    <a:ea typeface="Cloud Bold"/>
                    <a:cs typeface="Cloud Bold"/>
                    <a:sym typeface="Cloud Bold"/>
                  </a:rPr>
                  <a:t>Start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6450496" y="8853016"/>
              <a:ext cx="3048000" cy="1477108"/>
              <a:chOff x="0" y="0"/>
              <a:chExt cx="3302000" cy="16002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302000" cy="1600200"/>
              </a:xfrm>
              <a:custGeom>
                <a:avLst/>
                <a:gdLst/>
                <a:ahLst/>
                <a:cxnLst/>
                <a:rect r="r" b="b" t="t" l="l"/>
                <a:pathLst>
                  <a:path h="1600200" w="3302000">
                    <a:moveTo>
                      <a:pt x="304800" y="0"/>
                    </a:moveTo>
                    <a:lnTo>
                      <a:pt x="2997200" y="0"/>
                    </a:lnTo>
                    <a:cubicBezTo>
                      <a:pt x="3165536" y="0"/>
                      <a:pt x="3302000" y="136464"/>
                      <a:pt x="3302000" y="304800"/>
                    </a:cubicBezTo>
                    <a:lnTo>
                      <a:pt x="3302000" y="1295400"/>
                    </a:lnTo>
                    <a:cubicBezTo>
                      <a:pt x="3302000" y="1463736"/>
                      <a:pt x="3165536" y="1600200"/>
                      <a:pt x="2997200" y="1600200"/>
                    </a:cubicBezTo>
                    <a:lnTo>
                      <a:pt x="304800" y="1600200"/>
                    </a:lnTo>
                    <a:cubicBezTo>
                      <a:pt x="136464" y="1600200"/>
                      <a:pt x="0" y="1463736"/>
                      <a:pt x="0" y="1295400"/>
                    </a:cubicBezTo>
                    <a:lnTo>
                      <a:pt x="0" y="304800"/>
                    </a:ln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C3571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3302000" cy="1628775"/>
              </a:xfrm>
              <a:prstGeom prst="rect">
                <a:avLst/>
              </a:prstGeom>
            </p:spPr>
            <p:txBody>
              <a:bodyPr anchor="ctr" rtlCol="false" tIns="211015" lIns="211015" bIns="211015" rIns="211015"/>
              <a:lstStyle/>
              <a:p>
                <a:pPr algn="ctr">
                  <a:lnSpc>
                    <a:spcPts val="2186"/>
                  </a:lnSpc>
                </a:pPr>
                <a:r>
                  <a:rPr lang="en-US" sz="1561" b="true">
                    <a:solidFill>
                      <a:srgbClr val="0C3571"/>
                    </a:solidFill>
                    <a:latin typeface="Cloud Bold"/>
                    <a:ea typeface="Cloud Bold"/>
                    <a:cs typeface="Cloud Bold"/>
                    <a:sym typeface="Cloud Bold"/>
                  </a:rPr>
                  <a:t>User registers with health details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10436342" y="8853016"/>
              <a:ext cx="2813538" cy="1477108"/>
              <a:chOff x="0" y="0"/>
              <a:chExt cx="3048000" cy="16002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048000" cy="1600200"/>
              </a:xfrm>
              <a:custGeom>
                <a:avLst/>
                <a:gdLst/>
                <a:ahLst/>
                <a:cxnLst/>
                <a:rect r="r" b="b" t="t" l="l"/>
                <a:pathLst>
                  <a:path h="1600200" w="3048000">
                    <a:moveTo>
                      <a:pt x="304800" y="0"/>
                    </a:moveTo>
                    <a:lnTo>
                      <a:pt x="2743200" y="0"/>
                    </a:lnTo>
                    <a:cubicBezTo>
                      <a:pt x="2911536" y="0"/>
                      <a:pt x="3048000" y="136464"/>
                      <a:pt x="3048000" y="304800"/>
                    </a:cubicBezTo>
                    <a:lnTo>
                      <a:pt x="3048000" y="1295400"/>
                    </a:lnTo>
                    <a:cubicBezTo>
                      <a:pt x="3048000" y="1463736"/>
                      <a:pt x="2911536" y="1600200"/>
                      <a:pt x="2743200" y="1600200"/>
                    </a:cubicBezTo>
                    <a:lnTo>
                      <a:pt x="304800" y="1600200"/>
                    </a:lnTo>
                    <a:cubicBezTo>
                      <a:pt x="136464" y="1600200"/>
                      <a:pt x="0" y="1463736"/>
                      <a:pt x="0" y="1295400"/>
                    </a:cubicBezTo>
                    <a:lnTo>
                      <a:pt x="0" y="304800"/>
                    </a:ln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C3571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28575"/>
                <a:ext cx="3048000" cy="1628775"/>
              </a:xfrm>
              <a:prstGeom prst="rect">
                <a:avLst/>
              </a:prstGeom>
            </p:spPr>
            <p:txBody>
              <a:bodyPr anchor="ctr" rtlCol="false" tIns="211015" lIns="211015" bIns="211015" rIns="211015"/>
              <a:lstStyle/>
              <a:p>
                <a:pPr algn="ctr">
                  <a:lnSpc>
                    <a:spcPts val="2186"/>
                  </a:lnSpc>
                </a:pPr>
                <a:r>
                  <a:rPr lang="en-US" sz="1561" b="true">
                    <a:solidFill>
                      <a:srgbClr val="0C3571"/>
                    </a:solidFill>
                    <a:latin typeface="Cloud Bold"/>
                    <a:ea typeface="Cloud Bold"/>
                    <a:cs typeface="Cloud Bold"/>
                    <a:sym typeface="Cloud Bold"/>
                  </a:rPr>
                  <a:t>User uploads a food label</a:t>
                </a: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4187726" y="8853016"/>
              <a:ext cx="3048000" cy="1643080"/>
              <a:chOff x="0" y="0"/>
              <a:chExt cx="3302000" cy="178000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302000" cy="1780004"/>
              </a:xfrm>
              <a:custGeom>
                <a:avLst/>
                <a:gdLst/>
                <a:ahLst/>
                <a:cxnLst/>
                <a:rect r="r" b="b" t="t" l="l"/>
                <a:pathLst>
                  <a:path h="1780004" w="3302000">
                    <a:moveTo>
                      <a:pt x="304800" y="0"/>
                    </a:moveTo>
                    <a:lnTo>
                      <a:pt x="2997200" y="0"/>
                    </a:lnTo>
                    <a:cubicBezTo>
                      <a:pt x="3165536" y="0"/>
                      <a:pt x="3302000" y="151797"/>
                      <a:pt x="3302000" y="339048"/>
                    </a:cubicBezTo>
                    <a:lnTo>
                      <a:pt x="3302000" y="1440956"/>
                    </a:lnTo>
                    <a:cubicBezTo>
                      <a:pt x="3302000" y="1628207"/>
                      <a:pt x="3165536" y="1780004"/>
                      <a:pt x="2997200" y="1780004"/>
                    </a:cubicBezTo>
                    <a:lnTo>
                      <a:pt x="304800" y="1780004"/>
                    </a:lnTo>
                    <a:cubicBezTo>
                      <a:pt x="136464" y="1780004"/>
                      <a:pt x="0" y="1628207"/>
                      <a:pt x="0" y="1440956"/>
                    </a:cubicBezTo>
                    <a:lnTo>
                      <a:pt x="0" y="339048"/>
                    </a:lnTo>
                    <a:cubicBezTo>
                      <a:pt x="0" y="151797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C3571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28575"/>
                <a:ext cx="3302000" cy="1808579"/>
              </a:xfrm>
              <a:prstGeom prst="rect">
                <a:avLst/>
              </a:prstGeom>
            </p:spPr>
            <p:txBody>
              <a:bodyPr anchor="ctr" rtlCol="false" tIns="211015" lIns="211015" bIns="211015" rIns="211015"/>
              <a:lstStyle/>
              <a:p>
                <a:pPr algn="ctr">
                  <a:lnSpc>
                    <a:spcPts val="2186"/>
                  </a:lnSpc>
                </a:pPr>
                <a:r>
                  <a:rPr lang="en-US" sz="1561" b="true">
                    <a:solidFill>
                      <a:srgbClr val="0C3571"/>
                    </a:solidFill>
                    <a:latin typeface="Cloud Bold"/>
                    <a:ea typeface="Cloud Bold"/>
                    <a:cs typeface="Cloud Bold"/>
                    <a:sym typeface="Cloud Bold"/>
                  </a:rPr>
                  <a:t>OCR extracts ingredients and nutrition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8173572" y="8853016"/>
              <a:ext cx="3516923" cy="1570554"/>
              <a:chOff x="0" y="0"/>
              <a:chExt cx="3810000" cy="170143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810000" cy="1701433"/>
              </a:xfrm>
              <a:custGeom>
                <a:avLst/>
                <a:gdLst/>
                <a:ahLst/>
                <a:cxnLst/>
                <a:rect r="r" b="b" t="t" l="l"/>
                <a:pathLst>
                  <a:path h="1701433" w="3810000">
                    <a:moveTo>
                      <a:pt x="304800" y="0"/>
                    </a:moveTo>
                    <a:lnTo>
                      <a:pt x="3505200" y="0"/>
                    </a:lnTo>
                    <a:cubicBezTo>
                      <a:pt x="3673536" y="0"/>
                      <a:pt x="3810000" y="145097"/>
                      <a:pt x="3810000" y="324083"/>
                    </a:cubicBezTo>
                    <a:lnTo>
                      <a:pt x="3810000" y="1377351"/>
                    </a:lnTo>
                    <a:cubicBezTo>
                      <a:pt x="3810000" y="1556337"/>
                      <a:pt x="3673536" y="1701433"/>
                      <a:pt x="3505200" y="1701433"/>
                    </a:cubicBezTo>
                    <a:lnTo>
                      <a:pt x="304800" y="1701433"/>
                    </a:lnTo>
                    <a:cubicBezTo>
                      <a:pt x="136464" y="1701433"/>
                      <a:pt x="0" y="1556337"/>
                      <a:pt x="0" y="1377351"/>
                    </a:cubicBezTo>
                    <a:lnTo>
                      <a:pt x="0" y="324083"/>
                    </a:lnTo>
                    <a:cubicBezTo>
                      <a:pt x="0" y="145097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C3571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28575"/>
                <a:ext cx="3810000" cy="1730008"/>
              </a:xfrm>
              <a:prstGeom prst="rect">
                <a:avLst/>
              </a:prstGeom>
            </p:spPr>
            <p:txBody>
              <a:bodyPr anchor="ctr" rtlCol="false" tIns="211015" lIns="211015" bIns="211015" rIns="211015"/>
              <a:lstStyle/>
              <a:p>
                <a:pPr algn="ctr">
                  <a:lnSpc>
                    <a:spcPts val="2056"/>
                  </a:lnSpc>
                </a:pPr>
                <a:r>
                  <a:rPr lang="en-US" sz="1469" b="true">
                    <a:solidFill>
                      <a:srgbClr val="0C3571"/>
                    </a:solidFill>
                    <a:latin typeface="Cloud Bold"/>
                    <a:ea typeface="Cloud Bold"/>
                    <a:cs typeface="Cloud Bold"/>
                    <a:sym typeface="Cloud Bold"/>
                  </a:rPr>
                  <a:t>AI analyzes the food according to the user’s health profile</a:t>
                </a: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2628342" y="7797939"/>
              <a:ext cx="3516923" cy="3516923"/>
              <a:chOff x="0" y="0"/>
              <a:chExt cx="3810000" cy="3810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810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3810000">
                    <a:moveTo>
                      <a:pt x="1905000" y="0"/>
                    </a:moveTo>
                    <a:lnTo>
                      <a:pt x="3810000" y="1905000"/>
                    </a:lnTo>
                    <a:lnTo>
                      <a:pt x="1905000" y="3810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FFF0E2"/>
              </a:solidFill>
              <a:ln w="47625" cap="sq">
                <a:solidFill>
                  <a:srgbClr val="F68120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3810000" cy="3848100"/>
              </a:xfrm>
              <a:prstGeom prst="rect">
                <a:avLst/>
              </a:prstGeom>
            </p:spPr>
            <p:txBody>
              <a:bodyPr anchor="ctr" rtlCol="false" tIns="46892" lIns="46892" bIns="46892" rIns="46892"/>
              <a:lstStyle/>
              <a:p>
                <a:pPr algn="ctr">
                  <a:lnSpc>
                    <a:spcPts val="1927"/>
                  </a:lnSpc>
                </a:pPr>
                <a:r>
                  <a:rPr lang="en-US" sz="1376" b="true">
                    <a:solidFill>
                      <a:srgbClr val="0C3571"/>
                    </a:solidFill>
                    <a:latin typeface="Cloud Bold"/>
                    <a:ea typeface="Cloud Bold"/>
                    <a:cs typeface="Cloud Bold"/>
                    <a:sym typeface="Cloud Bold"/>
                  </a:rPr>
                  <a:t>Does the food fit the user’s health profile?</a:t>
                </a: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19111419" y="12956093"/>
              <a:ext cx="3868615" cy="1477108"/>
              <a:chOff x="0" y="0"/>
              <a:chExt cx="4191000" cy="16002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191000" cy="1600200"/>
              </a:xfrm>
              <a:custGeom>
                <a:avLst/>
                <a:gdLst/>
                <a:ahLst/>
                <a:cxnLst/>
                <a:rect r="r" b="b" t="t" l="l"/>
                <a:pathLst>
                  <a:path h="1600200" w="4191000">
                    <a:moveTo>
                      <a:pt x="304800" y="0"/>
                    </a:moveTo>
                    <a:lnTo>
                      <a:pt x="3886200" y="0"/>
                    </a:lnTo>
                    <a:cubicBezTo>
                      <a:pt x="4054536" y="0"/>
                      <a:pt x="4191000" y="136464"/>
                      <a:pt x="4191000" y="304800"/>
                    </a:cubicBezTo>
                    <a:lnTo>
                      <a:pt x="4191000" y="1295400"/>
                    </a:lnTo>
                    <a:cubicBezTo>
                      <a:pt x="4191000" y="1463736"/>
                      <a:pt x="4054536" y="1600200"/>
                      <a:pt x="3886200" y="1600200"/>
                    </a:cubicBezTo>
                    <a:lnTo>
                      <a:pt x="304800" y="1600200"/>
                    </a:lnTo>
                    <a:cubicBezTo>
                      <a:pt x="136464" y="1600200"/>
                      <a:pt x="0" y="1463736"/>
                      <a:pt x="0" y="1295400"/>
                    </a:cubicBezTo>
                    <a:lnTo>
                      <a:pt x="0" y="304800"/>
                    </a:ln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68120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28575"/>
                <a:ext cx="4191000" cy="1628775"/>
              </a:xfrm>
              <a:prstGeom prst="rect">
                <a:avLst/>
              </a:prstGeom>
            </p:spPr>
            <p:txBody>
              <a:bodyPr anchor="ctr" rtlCol="false" tIns="211015" lIns="211015" bIns="211015" rIns="211015"/>
              <a:lstStyle/>
              <a:p>
                <a:pPr algn="ctr">
                  <a:lnSpc>
                    <a:spcPts val="2186"/>
                  </a:lnSpc>
                </a:pPr>
                <a:r>
                  <a:rPr lang="en-US" sz="1561" b="true">
                    <a:solidFill>
                      <a:srgbClr val="0C3571"/>
                    </a:solidFill>
                    <a:latin typeface="Cloud Bold"/>
                    <a:ea typeface="Cloud Bold"/>
                    <a:cs typeface="Cloud Bold"/>
                    <a:sym typeface="Cloud Bold"/>
                  </a:rPr>
                  <a:t>Show personalized health effects</a:t>
                </a: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24504034" y="12956093"/>
              <a:ext cx="3516923" cy="1477108"/>
              <a:chOff x="0" y="0"/>
              <a:chExt cx="3810000" cy="16002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3810000" cy="1600200"/>
              </a:xfrm>
              <a:custGeom>
                <a:avLst/>
                <a:gdLst/>
                <a:ahLst/>
                <a:cxnLst/>
                <a:rect r="r" b="b" t="t" l="l"/>
                <a:pathLst>
                  <a:path h="1600200" w="3810000">
                    <a:moveTo>
                      <a:pt x="304800" y="0"/>
                    </a:moveTo>
                    <a:lnTo>
                      <a:pt x="3505200" y="0"/>
                    </a:lnTo>
                    <a:cubicBezTo>
                      <a:pt x="3673536" y="0"/>
                      <a:pt x="3810000" y="136464"/>
                      <a:pt x="3810000" y="304800"/>
                    </a:cubicBezTo>
                    <a:lnTo>
                      <a:pt x="3810000" y="1295400"/>
                    </a:lnTo>
                    <a:cubicBezTo>
                      <a:pt x="3810000" y="1463736"/>
                      <a:pt x="3673536" y="1600200"/>
                      <a:pt x="3505200" y="1600200"/>
                    </a:cubicBezTo>
                    <a:lnTo>
                      <a:pt x="304800" y="1600200"/>
                    </a:lnTo>
                    <a:cubicBezTo>
                      <a:pt x="136464" y="1600200"/>
                      <a:pt x="0" y="1463736"/>
                      <a:pt x="0" y="1295400"/>
                    </a:cubicBezTo>
                    <a:lnTo>
                      <a:pt x="0" y="304800"/>
                    </a:ln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68120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28575"/>
                <a:ext cx="3810000" cy="1628775"/>
              </a:xfrm>
              <a:prstGeom prst="rect">
                <a:avLst/>
              </a:prstGeom>
            </p:spPr>
            <p:txBody>
              <a:bodyPr anchor="ctr" rtlCol="false" tIns="211015" lIns="211015" bIns="211015" rIns="211015"/>
              <a:lstStyle/>
              <a:p>
                <a:pPr algn="ctr">
                  <a:lnSpc>
                    <a:spcPts val="2186"/>
                  </a:lnSpc>
                </a:pPr>
                <a:r>
                  <a:rPr lang="en-US" sz="1561" b="true">
                    <a:solidFill>
                      <a:srgbClr val="0C3571"/>
                    </a:solidFill>
                    <a:latin typeface="Cloud Bold"/>
                    <a:ea typeface="Cloud Bold"/>
                    <a:cs typeface="Cloud Bold"/>
                    <a:sym typeface="Cloud Bold"/>
                  </a:rPr>
                  <a:t>Suggest healthier food choices</a:t>
                </a: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22042188" y="16121324"/>
              <a:ext cx="2344615" cy="1477108"/>
              <a:chOff x="0" y="0"/>
              <a:chExt cx="2540000" cy="16002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540000" cy="1600200"/>
              </a:xfrm>
              <a:custGeom>
                <a:avLst/>
                <a:gdLst/>
                <a:ahLst/>
                <a:cxnLst/>
                <a:rect r="r" b="b" t="t" l="l"/>
                <a:pathLst>
                  <a:path h="1600200" w="2540000">
                    <a:moveTo>
                      <a:pt x="0" y="800100"/>
                    </a:moveTo>
                    <a:cubicBezTo>
                      <a:pt x="0" y="1241983"/>
                      <a:pt x="568598" y="1600200"/>
                      <a:pt x="1270000" y="1600200"/>
                    </a:cubicBezTo>
                    <a:cubicBezTo>
                      <a:pt x="1971402" y="1600200"/>
                      <a:pt x="2540000" y="1241983"/>
                      <a:pt x="2540000" y="800100"/>
                    </a:cubicBezTo>
                    <a:cubicBezTo>
                      <a:pt x="2540000" y="358217"/>
                      <a:pt x="1971402" y="0"/>
                      <a:pt x="1270000" y="0"/>
                    </a:cubicBezTo>
                    <a:cubicBezTo>
                      <a:pt x="568598" y="0"/>
                      <a:pt x="0" y="358217"/>
                      <a:pt x="0" y="800100"/>
                    </a:cubicBezTo>
                    <a:close/>
                  </a:path>
                </a:pathLst>
              </a:custGeom>
              <a:solidFill>
                <a:srgbClr val="0C3571"/>
              </a:solidFill>
              <a:ln w="38100" cap="sq">
                <a:solidFill>
                  <a:srgbClr val="0C3571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57150"/>
                <a:ext cx="2540000" cy="1657350"/>
              </a:xfrm>
              <a:prstGeom prst="rect">
                <a:avLst/>
              </a:prstGeom>
            </p:spPr>
            <p:txBody>
              <a:bodyPr anchor="ctr" rtlCol="false" tIns="46892" lIns="46892" bIns="46892" rIns="46892"/>
              <a:lstStyle/>
              <a:p>
                <a:pPr algn="ctr">
                  <a:lnSpc>
                    <a:spcPts val="2703"/>
                  </a:lnSpc>
                </a:pPr>
                <a:r>
                  <a:rPr lang="en-US" sz="1930" b="true">
                    <a:solidFill>
                      <a:srgbClr val="FFFFFF"/>
                    </a:solidFill>
                    <a:latin typeface="Cloud Bold"/>
                    <a:ea typeface="Cloud Bold"/>
                    <a:cs typeface="Cloud Bold"/>
                    <a:sym typeface="Cloud Bold"/>
                  </a:rPr>
                  <a:t>End</a:t>
                </a:r>
              </a:p>
            </p:txBody>
          </p:sp>
        </p:grpSp>
        <p:sp>
          <p:nvSpPr>
            <p:cNvPr name="Freeform 37" id="37"/>
            <p:cNvSpPr/>
            <p:nvPr/>
          </p:nvSpPr>
          <p:spPr>
            <a:xfrm>
              <a:off x="6040188" y="9591570"/>
              <a:ext cx="410308" cy="0"/>
            </a:xfrm>
            <a:custGeom>
              <a:avLst/>
              <a:gdLst/>
              <a:ahLst/>
              <a:cxnLst/>
              <a:rect r="r" b="b" t="t" l="l"/>
              <a:pathLst>
                <a:path h="0" w="410308">
                  <a:moveTo>
                    <a:pt x="0" y="0"/>
                  </a:moveTo>
                  <a:lnTo>
                    <a:pt x="410307" y="0"/>
                  </a:lnTo>
                </a:path>
              </a:pathLst>
            </a:custGeom>
            <a:ln cap="flat" w="76200">
              <a:solidFill>
                <a:srgbClr val="0C3571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Freeform 38" id="38"/>
            <p:cNvSpPr/>
            <p:nvPr/>
          </p:nvSpPr>
          <p:spPr>
            <a:xfrm>
              <a:off x="9967419" y="9591570"/>
              <a:ext cx="468923" cy="0"/>
            </a:xfrm>
            <a:custGeom>
              <a:avLst/>
              <a:gdLst/>
              <a:ahLst/>
              <a:cxnLst/>
              <a:rect r="r" b="b" t="t" l="l"/>
              <a:pathLst>
                <a:path h="0" w="468923">
                  <a:moveTo>
                    <a:pt x="0" y="0"/>
                  </a:moveTo>
                  <a:lnTo>
                    <a:pt x="468923" y="0"/>
                  </a:lnTo>
                </a:path>
              </a:pathLst>
            </a:custGeom>
            <a:ln cap="flat" w="76200">
              <a:solidFill>
                <a:srgbClr val="0C3571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Freeform 39" id="39"/>
            <p:cNvSpPr/>
            <p:nvPr/>
          </p:nvSpPr>
          <p:spPr>
            <a:xfrm>
              <a:off x="13249880" y="9591570"/>
              <a:ext cx="937847" cy="82986"/>
            </a:xfrm>
            <a:custGeom>
              <a:avLst/>
              <a:gdLst/>
              <a:ahLst/>
              <a:cxnLst/>
              <a:rect r="r" b="b" t="t" l="l"/>
              <a:pathLst>
                <a:path h="82986" w="937847">
                  <a:moveTo>
                    <a:pt x="0" y="0"/>
                  </a:moveTo>
                  <a:lnTo>
                    <a:pt x="427429" y="0"/>
                  </a:lnTo>
                  <a:cubicBezTo>
                    <a:pt x="450346" y="0"/>
                    <a:pt x="468923" y="18578"/>
                    <a:pt x="468923" y="41494"/>
                  </a:cubicBezTo>
                  <a:lnTo>
                    <a:pt x="468923" y="41494"/>
                  </a:lnTo>
                  <a:cubicBezTo>
                    <a:pt x="468923" y="64410"/>
                    <a:pt x="487500" y="82987"/>
                    <a:pt x="510417" y="82987"/>
                  </a:cubicBezTo>
                  <a:lnTo>
                    <a:pt x="937846" y="82987"/>
                  </a:lnTo>
                </a:path>
              </a:pathLst>
            </a:custGeom>
            <a:ln cap="flat" w="76200">
              <a:solidFill>
                <a:srgbClr val="0C3571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Freeform 40" id="40"/>
            <p:cNvSpPr/>
            <p:nvPr/>
          </p:nvSpPr>
          <p:spPr>
            <a:xfrm>
              <a:off x="17235726" y="9638293"/>
              <a:ext cx="937847" cy="36264"/>
            </a:xfrm>
            <a:custGeom>
              <a:avLst/>
              <a:gdLst/>
              <a:ahLst/>
              <a:cxnLst/>
              <a:rect r="r" b="b" t="t" l="l"/>
              <a:pathLst>
                <a:path h="36264" w="937847">
                  <a:moveTo>
                    <a:pt x="0" y="36264"/>
                  </a:moveTo>
                  <a:lnTo>
                    <a:pt x="450791" y="36264"/>
                  </a:lnTo>
                  <a:cubicBezTo>
                    <a:pt x="460806" y="36264"/>
                    <a:pt x="468924" y="28146"/>
                    <a:pt x="468924" y="18132"/>
                  </a:cubicBezTo>
                  <a:lnTo>
                    <a:pt x="468924" y="18132"/>
                  </a:lnTo>
                  <a:cubicBezTo>
                    <a:pt x="468924" y="8118"/>
                    <a:pt x="477041" y="0"/>
                    <a:pt x="487056" y="0"/>
                  </a:cubicBezTo>
                  <a:lnTo>
                    <a:pt x="937847" y="0"/>
                  </a:lnTo>
                </a:path>
              </a:pathLst>
            </a:custGeom>
            <a:ln cap="flat" w="76200">
              <a:solidFill>
                <a:srgbClr val="0C3571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Freeform 41" id="41"/>
            <p:cNvSpPr/>
            <p:nvPr/>
          </p:nvSpPr>
          <p:spPr>
            <a:xfrm>
              <a:off x="21690496" y="9556401"/>
              <a:ext cx="937845" cy="81892"/>
            </a:xfrm>
            <a:custGeom>
              <a:avLst/>
              <a:gdLst/>
              <a:ahLst/>
              <a:cxnLst/>
              <a:rect r="r" b="b" t="t" l="l"/>
              <a:pathLst>
                <a:path h="81892" w="937845">
                  <a:moveTo>
                    <a:pt x="0" y="81892"/>
                  </a:moveTo>
                  <a:lnTo>
                    <a:pt x="427976" y="81892"/>
                  </a:lnTo>
                  <a:cubicBezTo>
                    <a:pt x="450590" y="81892"/>
                    <a:pt x="468922" y="63560"/>
                    <a:pt x="468922" y="40947"/>
                  </a:cubicBezTo>
                  <a:lnTo>
                    <a:pt x="468922" y="40947"/>
                  </a:lnTo>
                  <a:cubicBezTo>
                    <a:pt x="468922" y="18332"/>
                    <a:pt x="487254" y="0"/>
                    <a:pt x="509868" y="0"/>
                  </a:cubicBezTo>
                  <a:lnTo>
                    <a:pt x="937845" y="0"/>
                  </a:lnTo>
                </a:path>
              </a:pathLst>
            </a:custGeom>
            <a:ln cap="flat" w="76200">
              <a:solidFill>
                <a:srgbClr val="0C3571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Freeform 42" id="42"/>
            <p:cNvSpPr/>
            <p:nvPr/>
          </p:nvSpPr>
          <p:spPr>
            <a:xfrm>
              <a:off x="21045726" y="11314862"/>
              <a:ext cx="3341077" cy="1641231"/>
            </a:xfrm>
            <a:custGeom>
              <a:avLst/>
              <a:gdLst/>
              <a:ahLst/>
              <a:cxnLst/>
              <a:rect r="r" b="b" t="t" l="l"/>
              <a:pathLst>
                <a:path h="1641231" w="3341077">
                  <a:moveTo>
                    <a:pt x="3341077" y="0"/>
                  </a:moveTo>
                  <a:lnTo>
                    <a:pt x="1949939" y="0"/>
                  </a:lnTo>
                  <a:cubicBezTo>
                    <a:pt x="1875838" y="0"/>
                    <a:pt x="1804771" y="29437"/>
                    <a:pt x="1752372" y="81835"/>
                  </a:cubicBezTo>
                  <a:cubicBezTo>
                    <a:pt x="1699976" y="134232"/>
                    <a:pt x="1670539" y="205298"/>
                    <a:pt x="1670539" y="279400"/>
                  </a:cubicBezTo>
                  <a:lnTo>
                    <a:pt x="1670539" y="1361831"/>
                  </a:lnTo>
                  <a:cubicBezTo>
                    <a:pt x="1670539" y="1516139"/>
                    <a:pt x="1545447" y="1641231"/>
                    <a:pt x="1391139" y="1641231"/>
                  </a:cubicBezTo>
                  <a:lnTo>
                    <a:pt x="0" y="1641231"/>
                  </a:lnTo>
                </a:path>
              </a:pathLst>
            </a:custGeom>
            <a:ln cap="flat" w="76200">
              <a:solidFill>
                <a:srgbClr val="F6812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Freeform 43" id="43"/>
            <p:cNvSpPr/>
            <p:nvPr/>
          </p:nvSpPr>
          <p:spPr>
            <a:xfrm>
              <a:off x="24504035" y="9556401"/>
              <a:ext cx="1641232" cy="4138247"/>
            </a:xfrm>
            <a:custGeom>
              <a:avLst/>
              <a:gdLst/>
              <a:ahLst/>
              <a:cxnLst/>
              <a:rect r="r" b="b" t="t" l="l"/>
              <a:pathLst>
                <a:path h="4138247" w="1641232">
                  <a:moveTo>
                    <a:pt x="1641231" y="0"/>
                  </a:moveTo>
                  <a:lnTo>
                    <a:pt x="1641231" y="1789723"/>
                  </a:lnTo>
                  <a:cubicBezTo>
                    <a:pt x="1641231" y="1944031"/>
                    <a:pt x="1516138" y="2069123"/>
                    <a:pt x="1361831" y="2069123"/>
                  </a:cubicBezTo>
                  <a:lnTo>
                    <a:pt x="279400" y="2069123"/>
                  </a:lnTo>
                  <a:cubicBezTo>
                    <a:pt x="125091" y="2069123"/>
                    <a:pt x="0" y="2194214"/>
                    <a:pt x="0" y="2348523"/>
                  </a:cubicBezTo>
                  <a:lnTo>
                    <a:pt x="0" y="4138247"/>
                  </a:lnTo>
                </a:path>
              </a:pathLst>
            </a:custGeom>
            <a:ln cap="flat" w="76200">
              <a:solidFill>
                <a:srgbClr val="F6812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Freeform 44" id="44"/>
            <p:cNvSpPr/>
            <p:nvPr/>
          </p:nvSpPr>
          <p:spPr>
            <a:xfrm>
              <a:off x="21045726" y="14433201"/>
              <a:ext cx="996462" cy="2426677"/>
            </a:xfrm>
            <a:custGeom>
              <a:avLst/>
              <a:gdLst/>
              <a:ahLst/>
              <a:cxnLst/>
              <a:rect r="r" b="b" t="t" l="l"/>
              <a:pathLst>
                <a:path h="2426677" w="996462">
                  <a:moveTo>
                    <a:pt x="0" y="0"/>
                  </a:moveTo>
                  <a:lnTo>
                    <a:pt x="0" y="933939"/>
                  </a:lnTo>
                  <a:cubicBezTo>
                    <a:pt x="0" y="1008039"/>
                    <a:pt x="29437" y="1079106"/>
                    <a:pt x="81834" y="1131505"/>
                  </a:cubicBezTo>
                  <a:cubicBezTo>
                    <a:pt x="134232" y="1183902"/>
                    <a:pt x="205299" y="1213339"/>
                    <a:pt x="279400" y="1213339"/>
                  </a:cubicBezTo>
                  <a:lnTo>
                    <a:pt x="717062" y="1213339"/>
                  </a:lnTo>
                  <a:cubicBezTo>
                    <a:pt x="791163" y="1213339"/>
                    <a:pt x="862230" y="1242775"/>
                    <a:pt x="914628" y="1295172"/>
                  </a:cubicBezTo>
                  <a:cubicBezTo>
                    <a:pt x="967025" y="1347571"/>
                    <a:pt x="996462" y="1418638"/>
                    <a:pt x="996462" y="1492739"/>
                  </a:cubicBezTo>
                  <a:lnTo>
                    <a:pt x="996462" y="2426677"/>
                  </a:lnTo>
                </a:path>
              </a:pathLst>
            </a:custGeom>
            <a:ln cap="flat" w="76200">
              <a:solidFill>
                <a:srgbClr val="F6812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Freeform 45" id="45"/>
            <p:cNvSpPr/>
            <p:nvPr/>
          </p:nvSpPr>
          <p:spPr>
            <a:xfrm>
              <a:off x="24386803" y="14433201"/>
              <a:ext cx="1875693" cy="2426677"/>
            </a:xfrm>
            <a:custGeom>
              <a:avLst/>
              <a:gdLst/>
              <a:ahLst/>
              <a:cxnLst/>
              <a:rect r="r" b="b" t="t" l="l"/>
              <a:pathLst>
                <a:path h="2426677" w="1875693">
                  <a:moveTo>
                    <a:pt x="1875693" y="0"/>
                  </a:moveTo>
                  <a:lnTo>
                    <a:pt x="1875693" y="933939"/>
                  </a:lnTo>
                  <a:cubicBezTo>
                    <a:pt x="1875693" y="1088247"/>
                    <a:pt x="1750603" y="1213339"/>
                    <a:pt x="1596293" y="1213339"/>
                  </a:cubicBezTo>
                  <a:lnTo>
                    <a:pt x="279400" y="1213339"/>
                  </a:lnTo>
                  <a:cubicBezTo>
                    <a:pt x="125092" y="1213339"/>
                    <a:pt x="0" y="1338430"/>
                    <a:pt x="0" y="1492739"/>
                  </a:cubicBezTo>
                  <a:lnTo>
                    <a:pt x="0" y="2426677"/>
                  </a:lnTo>
                </a:path>
              </a:pathLst>
            </a:custGeom>
            <a:ln cap="flat" w="76200">
              <a:solidFill>
                <a:srgbClr val="F6812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TextBox 46" id="46"/>
            <p:cNvSpPr txBox="true"/>
            <p:nvPr/>
          </p:nvSpPr>
          <p:spPr>
            <a:xfrm rot="0">
              <a:off x="21104342" y="11804301"/>
              <a:ext cx="1055077" cy="3089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7"/>
                </a:lnSpc>
              </a:pPr>
              <a:r>
                <a:rPr lang="en-US" sz="1376" b="true">
                  <a:solidFill>
                    <a:srgbClr val="F68120"/>
                  </a:solidFill>
                  <a:latin typeface="Cloud Bold"/>
                  <a:ea typeface="Cloud Bold"/>
                  <a:cs typeface="Cloud Bold"/>
                  <a:sym typeface="Cloud Bold"/>
                </a:rPr>
                <a:t>YES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26262496" y="11569839"/>
              <a:ext cx="1055077" cy="3089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7"/>
                </a:lnSpc>
              </a:pPr>
              <a:r>
                <a:rPr lang="en-US" sz="1376" b="true">
                  <a:solidFill>
                    <a:srgbClr val="F68120"/>
                  </a:solidFill>
                  <a:latin typeface="Cloud Bold"/>
                  <a:ea typeface="Cloud Bold"/>
                  <a:cs typeface="Cloud Bold"/>
                  <a:sym typeface="Cloud Bold"/>
                </a:rPr>
                <a:t>NO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1" y="6515100"/>
            <a:ext cx="7059482" cy="4114800"/>
          </a:xfrm>
          <a:custGeom>
            <a:avLst/>
            <a:gdLst/>
            <a:ahLst/>
            <a:cxnLst/>
            <a:rect r="r" b="b" t="t" l="l"/>
            <a:pathLst>
              <a:path h="4114800" w="7059482">
                <a:moveTo>
                  <a:pt x="0" y="0"/>
                </a:moveTo>
                <a:lnTo>
                  <a:pt x="7059482" y="0"/>
                </a:lnTo>
                <a:lnTo>
                  <a:pt x="70594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8" r="0" b="-5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6" y="-357188"/>
            <a:ext cx="7059482" cy="4114800"/>
          </a:xfrm>
          <a:custGeom>
            <a:avLst/>
            <a:gdLst/>
            <a:ahLst/>
            <a:cxnLst/>
            <a:rect r="r" b="b" t="t" l="l"/>
            <a:pathLst>
              <a:path h="4114800" w="7059482">
                <a:moveTo>
                  <a:pt x="705948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82" y="0"/>
                </a:lnTo>
                <a:lnTo>
                  <a:pt x="705948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8" r="0" b="-5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40">
            <a:off x="-1222248" y="-3356258"/>
            <a:ext cx="5987225" cy="5998131"/>
          </a:xfrm>
          <a:custGeom>
            <a:avLst/>
            <a:gdLst/>
            <a:ahLst/>
            <a:cxnLst/>
            <a:rect r="r" b="b" t="t" l="l"/>
            <a:pathLst>
              <a:path h="5998131" w="5987225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" t="0" r="-11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40">
            <a:off x="14265688" y="7630830"/>
            <a:ext cx="5987225" cy="5998131"/>
          </a:xfrm>
          <a:custGeom>
            <a:avLst/>
            <a:gdLst/>
            <a:ahLst/>
            <a:cxnLst/>
            <a:rect r="r" b="b" t="t" l="l"/>
            <a:pathLst>
              <a:path h="5998131" w="5987225">
                <a:moveTo>
                  <a:pt x="5987224" y="5998131"/>
                </a:moveTo>
                <a:lnTo>
                  <a:pt x="0" y="5998131"/>
                </a:lnTo>
                <a:lnTo>
                  <a:pt x="0" y="0"/>
                </a:lnTo>
                <a:lnTo>
                  <a:pt x="5987224" y="0"/>
                </a:lnTo>
                <a:lnTo>
                  <a:pt x="5987224" y="599813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" t="0" r="-1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40">
            <a:off x="-221066" y="7727728"/>
            <a:ext cx="3071031" cy="5804354"/>
          </a:xfrm>
          <a:custGeom>
            <a:avLst/>
            <a:gdLst/>
            <a:ahLst/>
            <a:cxnLst/>
            <a:rect r="r" b="b" t="t" l="l"/>
            <a:pathLst>
              <a:path h="5804354" w="3071031">
                <a:moveTo>
                  <a:pt x="0" y="0"/>
                </a:moveTo>
                <a:lnTo>
                  <a:pt x="3071032" y="0"/>
                </a:lnTo>
                <a:lnTo>
                  <a:pt x="3071032" y="5804354"/>
                </a:lnTo>
                <a:lnTo>
                  <a:pt x="0" y="58043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2" r="0" b="-4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40">
            <a:off x="17178166" y="-1873472"/>
            <a:ext cx="3071031" cy="5804354"/>
          </a:xfrm>
          <a:custGeom>
            <a:avLst/>
            <a:gdLst/>
            <a:ahLst/>
            <a:cxnLst/>
            <a:rect r="r" b="b" t="t" l="l"/>
            <a:pathLst>
              <a:path h="5804354" w="3071031">
                <a:moveTo>
                  <a:pt x="0" y="0"/>
                </a:moveTo>
                <a:lnTo>
                  <a:pt x="3071032" y="0"/>
                </a:lnTo>
                <a:lnTo>
                  <a:pt x="3071032" y="5804354"/>
                </a:lnTo>
                <a:lnTo>
                  <a:pt x="0" y="58043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2" r="0" b="-4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573813" y="1547812"/>
            <a:ext cx="8350816" cy="137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18"/>
              </a:lnSpc>
            </a:pPr>
            <a:r>
              <a:rPr lang="en-US" sz="8013" b="true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METHODOLOGY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8725" y="3190641"/>
            <a:ext cx="17279275" cy="4835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6"/>
              </a:lnSpc>
            </a:pPr>
            <a:r>
              <a:rPr lang="en-US" sz="2740" b="true">
                <a:solidFill>
                  <a:srgbClr val="0C35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</a:t>
            </a:r>
            <a:r>
              <a:rPr lang="en-US" sz="2740">
                <a:solidFill>
                  <a:srgbClr val="0C3571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40" b="true">
                <a:solidFill>
                  <a:srgbClr val="0C35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Vision &amp; Preprocessing</a:t>
            </a:r>
            <a:r>
              <a:rPr lang="en-US" sz="2740">
                <a:solidFill>
                  <a:srgbClr val="0C3571"/>
                </a:solidFill>
                <a:latin typeface="Canva Sans"/>
                <a:ea typeface="Canva Sans"/>
                <a:cs typeface="Canva Sans"/>
                <a:sym typeface="Canva Sans"/>
              </a:rPr>
              <a:t>: </a:t>
            </a:r>
            <a:r>
              <a:rPr lang="en-US" sz="2740">
                <a:solidFill>
                  <a:srgbClr val="0C3571"/>
                </a:solidFill>
                <a:latin typeface="Canva Sans"/>
                <a:ea typeface="Canva Sans"/>
                <a:cs typeface="Canva Sans"/>
                <a:sym typeface="Canva Sans"/>
              </a:rPr>
              <a:t>Auto-deskews, denoises, and enhances curved or reflective food label images.</a:t>
            </a:r>
          </a:p>
          <a:p>
            <a:pPr algn="just">
              <a:lnSpc>
                <a:spcPts val="3836"/>
              </a:lnSpc>
            </a:pPr>
            <a:r>
              <a:rPr lang="en-US" b="true" sz="2740">
                <a:solidFill>
                  <a:srgbClr val="0C35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Multi-Mode OCR &amp; Confidence Scoring:</a:t>
            </a:r>
            <a:r>
              <a:rPr lang="en-US" sz="2740">
                <a:solidFill>
                  <a:srgbClr val="0C3571"/>
                </a:solidFill>
                <a:latin typeface="Canva Sans"/>
                <a:ea typeface="Canva Sans"/>
                <a:cs typeface="Canva Sans"/>
                <a:sym typeface="Canva Sans"/>
              </a:rPr>
              <a:t> Extracts dense packaging text using Tesseract with real-time confidence scores (0–100%).</a:t>
            </a:r>
          </a:p>
          <a:p>
            <a:pPr algn="just">
              <a:lnSpc>
                <a:spcPts val="3836"/>
              </a:lnSpc>
            </a:pPr>
            <a:r>
              <a:rPr lang="en-US" b="true" sz="2740">
                <a:solidFill>
                  <a:srgbClr val="0C35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NLP &amp; Chemical Alias Mapping:</a:t>
            </a:r>
            <a:r>
              <a:rPr lang="en-US" b="true" sz="2740">
                <a:solidFill>
                  <a:srgbClr val="0C357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</a:t>
            </a:r>
            <a:r>
              <a:rPr lang="en-US" sz="2740">
                <a:solidFill>
                  <a:srgbClr val="0C3571"/>
                </a:solidFill>
                <a:latin typeface="Canva Sans"/>
                <a:ea typeface="Canva Sans"/>
                <a:cs typeface="Canva Sans"/>
                <a:sym typeface="Canva Sans"/>
              </a:rPr>
              <a:t>Cleans boilerplate text and maps E-numbers, chemical derivatives, and scientific names to canonical ingredients.</a:t>
            </a:r>
          </a:p>
          <a:p>
            <a:pPr algn="just">
              <a:lnSpc>
                <a:spcPts val="3836"/>
              </a:lnSpc>
            </a:pPr>
            <a:r>
              <a:rPr lang="en-US" b="true" sz="2740">
                <a:solidFill>
                  <a:srgbClr val="0C35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 Personalized Safety &amp; Reverse Product Engine : </a:t>
            </a:r>
            <a:r>
              <a:rPr lang="en-US" sz="2740">
                <a:solidFill>
                  <a:srgbClr val="0C3571"/>
                </a:solidFill>
                <a:latin typeface="Canva Sans"/>
                <a:ea typeface="Canva Sans"/>
                <a:cs typeface="Canva Sans"/>
                <a:sym typeface="Canva Sans"/>
              </a:rPr>
              <a:t>Checks against user allergies, diets, and health goals (</a:t>
            </a:r>
            <a:r>
              <a:rPr lang="en-US" b="true" sz="2740">
                <a:solidFill>
                  <a:srgbClr val="0C357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Safe / Caution / Avoid</a:t>
            </a:r>
            <a:r>
              <a:rPr lang="en-US" sz="2740">
                <a:solidFill>
                  <a:srgbClr val="0C3571"/>
                </a:solidFill>
                <a:latin typeface="Canva Sans"/>
                <a:ea typeface="Canva Sans"/>
                <a:cs typeface="Canva Sans"/>
                <a:sym typeface="Canva Sans"/>
              </a:rPr>
              <a:t>).</a:t>
            </a:r>
          </a:p>
          <a:p>
            <a:pPr algn="just">
              <a:lnSpc>
                <a:spcPts val="3836"/>
              </a:lnSpc>
            </a:pPr>
            <a:r>
              <a:rPr lang="en-US" sz="2740">
                <a:solidFill>
                  <a:srgbClr val="0C3571"/>
                </a:solidFill>
                <a:latin typeface="Canva Sans"/>
                <a:ea typeface="Canva Sans"/>
                <a:cs typeface="Canva Sans"/>
                <a:sym typeface="Canva Sans"/>
              </a:rPr>
              <a:t>Identifies the exact packaged product and recommends healthier </a:t>
            </a:r>
            <a:r>
              <a:rPr lang="en-US" b="true" sz="2740">
                <a:solidFill>
                  <a:srgbClr val="0C357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finished shelf alternatives</a:t>
            </a:r>
            <a:r>
              <a:rPr lang="en-US" sz="2740">
                <a:solidFill>
                  <a:srgbClr val="0C3571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just">
              <a:lnSpc>
                <a:spcPts val="3836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1" y="6515100"/>
            <a:ext cx="7059482" cy="4114800"/>
          </a:xfrm>
          <a:custGeom>
            <a:avLst/>
            <a:gdLst/>
            <a:ahLst/>
            <a:cxnLst/>
            <a:rect r="r" b="b" t="t" l="l"/>
            <a:pathLst>
              <a:path h="4114800" w="7059482">
                <a:moveTo>
                  <a:pt x="0" y="0"/>
                </a:moveTo>
                <a:lnTo>
                  <a:pt x="7059482" y="0"/>
                </a:lnTo>
                <a:lnTo>
                  <a:pt x="70594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8" r="0" b="-5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6" y="-357188"/>
            <a:ext cx="7059482" cy="4114800"/>
          </a:xfrm>
          <a:custGeom>
            <a:avLst/>
            <a:gdLst/>
            <a:ahLst/>
            <a:cxnLst/>
            <a:rect r="r" b="b" t="t" l="l"/>
            <a:pathLst>
              <a:path h="4114800" w="7059482">
                <a:moveTo>
                  <a:pt x="705948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82" y="0"/>
                </a:lnTo>
                <a:lnTo>
                  <a:pt x="705948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8" r="0" b="-5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40">
            <a:off x="-1222248" y="-3356258"/>
            <a:ext cx="5987225" cy="5998131"/>
          </a:xfrm>
          <a:custGeom>
            <a:avLst/>
            <a:gdLst/>
            <a:ahLst/>
            <a:cxnLst/>
            <a:rect r="r" b="b" t="t" l="l"/>
            <a:pathLst>
              <a:path h="5998131" w="5987225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" t="0" r="-11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40">
            <a:off x="14265688" y="7630830"/>
            <a:ext cx="5987225" cy="5998131"/>
          </a:xfrm>
          <a:custGeom>
            <a:avLst/>
            <a:gdLst/>
            <a:ahLst/>
            <a:cxnLst/>
            <a:rect r="r" b="b" t="t" l="l"/>
            <a:pathLst>
              <a:path h="5998131" w="5987225">
                <a:moveTo>
                  <a:pt x="5987224" y="5998131"/>
                </a:moveTo>
                <a:lnTo>
                  <a:pt x="0" y="5998131"/>
                </a:lnTo>
                <a:lnTo>
                  <a:pt x="0" y="0"/>
                </a:lnTo>
                <a:lnTo>
                  <a:pt x="5987224" y="0"/>
                </a:lnTo>
                <a:lnTo>
                  <a:pt x="5987224" y="599813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" t="0" r="-1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40">
            <a:off x="-221066" y="7727728"/>
            <a:ext cx="3071031" cy="5804354"/>
          </a:xfrm>
          <a:custGeom>
            <a:avLst/>
            <a:gdLst/>
            <a:ahLst/>
            <a:cxnLst/>
            <a:rect r="r" b="b" t="t" l="l"/>
            <a:pathLst>
              <a:path h="5804354" w="3071031">
                <a:moveTo>
                  <a:pt x="0" y="0"/>
                </a:moveTo>
                <a:lnTo>
                  <a:pt x="3071032" y="0"/>
                </a:lnTo>
                <a:lnTo>
                  <a:pt x="3071032" y="5804354"/>
                </a:lnTo>
                <a:lnTo>
                  <a:pt x="0" y="58043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2" r="0" b="-4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40">
            <a:off x="17178166" y="-1873472"/>
            <a:ext cx="3071031" cy="5804354"/>
          </a:xfrm>
          <a:custGeom>
            <a:avLst/>
            <a:gdLst/>
            <a:ahLst/>
            <a:cxnLst/>
            <a:rect r="r" b="b" t="t" l="l"/>
            <a:pathLst>
              <a:path h="5804354" w="3071031">
                <a:moveTo>
                  <a:pt x="0" y="0"/>
                </a:moveTo>
                <a:lnTo>
                  <a:pt x="3071032" y="0"/>
                </a:lnTo>
                <a:lnTo>
                  <a:pt x="3071032" y="5804354"/>
                </a:lnTo>
                <a:lnTo>
                  <a:pt x="0" y="58043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2" r="0" b="-4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925338" y="931945"/>
            <a:ext cx="10009289" cy="1824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5"/>
              </a:lnSpc>
            </a:pPr>
            <a:r>
              <a:rPr lang="en-US" sz="9603" b="true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TECH STACK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55817" y="2952674"/>
            <a:ext cx="12376375" cy="6666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BACKEND</a:t>
            </a:r>
          </a:p>
          <a:p>
            <a:pPr algn="l" marL="1388834" indent="-347209" lvl="3">
              <a:lnSpc>
                <a:spcPts val="4759"/>
              </a:lnSpc>
              <a:buFont typeface="Arial"/>
              <a:buChar char="￭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Python </a:t>
            </a:r>
          </a:p>
          <a:p>
            <a:pPr algn="l" marL="1388834" indent="-347209" lvl="3">
              <a:lnSpc>
                <a:spcPts val="4759"/>
              </a:lnSpc>
              <a:buFont typeface="Arial"/>
              <a:buChar char="￭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Flask 3.0 (web framework)</a:t>
            </a:r>
          </a:p>
          <a:p>
            <a:pPr algn="l" marL="1388834" indent="-347209" lvl="3">
              <a:lnSpc>
                <a:spcPts val="4759"/>
              </a:lnSpc>
            </a:pPr>
            <a:r>
              <a:rPr lang="en-US" b="true" sz="3399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FRONTEND</a:t>
            </a: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 </a:t>
            </a:r>
          </a:p>
          <a:p>
            <a:pPr algn="l" marL="1388834" indent="-347209" lvl="3">
              <a:lnSpc>
                <a:spcPts val="4759"/>
              </a:lnSpc>
              <a:buFont typeface="Arial"/>
              <a:buChar char="￭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HTML 5 , CSS 3</a:t>
            </a:r>
          </a:p>
          <a:p>
            <a:pPr algn="l" marL="1388834" indent="-347209" lvl="3">
              <a:lnSpc>
                <a:spcPts val="4759"/>
              </a:lnSpc>
            </a:pPr>
            <a:r>
              <a:rPr lang="en-US" b="true" sz="3399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DATABASE</a:t>
            </a: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</a:t>
            </a:r>
          </a:p>
          <a:p>
            <a:pPr algn="l" marL="1388834" indent="-347209" lvl="3">
              <a:lnSpc>
                <a:spcPts val="4759"/>
              </a:lnSpc>
              <a:buFont typeface="Arial"/>
              <a:buChar char="￭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 MySQl</a:t>
            </a:r>
          </a:p>
          <a:p>
            <a:pPr algn="l" marL="1388834" indent="-347209" lvl="3">
              <a:lnSpc>
                <a:spcPts val="4759"/>
              </a:lnSpc>
            </a:pPr>
            <a:r>
              <a:rPr lang="en-US" b="true" sz="3399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IMAGE PROCESSING &amp; OCR</a:t>
            </a:r>
          </a:p>
          <a:p>
            <a:pPr algn="l" marL="1388834" indent="-347209" lvl="3">
              <a:lnSpc>
                <a:spcPts val="4759"/>
              </a:lnSpc>
              <a:buFont typeface="Arial"/>
              <a:buChar char="￭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Tesseract OCR</a:t>
            </a:r>
          </a:p>
          <a:p>
            <a:pPr algn="l" marL="1388834" indent="-347209" lvl="3">
              <a:lnSpc>
                <a:spcPts val="4759"/>
              </a:lnSpc>
            </a:pPr>
          </a:p>
          <a:p>
            <a:pPr algn="l" marL="1388834" indent="-347209" lvl="3">
              <a:lnSpc>
                <a:spcPts val="4759"/>
              </a:lnSpc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       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1" y="6515100"/>
            <a:ext cx="7059482" cy="4114800"/>
          </a:xfrm>
          <a:custGeom>
            <a:avLst/>
            <a:gdLst/>
            <a:ahLst/>
            <a:cxnLst/>
            <a:rect r="r" b="b" t="t" l="l"/>
            <a:pathLst>
              <a:path h="4114800" w="7059482">
                <a:moveTo>
                  <a:pt x="0" y="0"/>
                </a:moveTo>
                <a:lnTo>
                  <a:pt x="7059482" y="0"/>
                </a:lnTo>
                <a:lnTo>
                  <a:pt x="70594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8" r="0" b="-5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6" y="-357188"/>
            <a:ext cx="7059482" cy="4114800"/>
          </a:xfrm>
          <a:custGeom>
            <a:avLst/>
            <a:gdLst/>
            <a:ahLst/>
            <a:cxnLst/>
            <a:rect r="r" b="b" t="t" l="l"/>
            <a:pathLst>
              <a:path h="4114800" w="7059482">
                <a:moveTo>
                  <a:pt x="705948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82" y="0"/>
                </a:lnTo>
                <a:lnTo>
                  <a:pt x="705948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8" r="0" b="-5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40">
            <a:off x="-1222248" y="-3356258"/>
            <a:ext cx="5987225" cy="5998131"/>
          </a:xfrm>
          <a:custGeom>
            <a:avLst/>
            <a:gdLst/>
            <a:ahLst/>
            <a:cxnLst/>
            <a:rect r="r" b="b" t="t" l="l"/>
            <a:pathLst>
              <a:path h="5998131" w="5987225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" t="0" r="-11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40">
            <a:off x="14265688" y="7630830"/>
            <a:ext cx="5987225" cy="5998131"/>
          </a:xfrm>
          <a:custGeom>
            <a:avLst/>
            <a:gdLst/>
            <a:ahLst/>
            <a:cxnLst/>
            <a:rect r="r" b="b" t="t" l="l"/>
            <a:pathLst>
              <a:path h="5998131" w="5987225">
                <a:moveTo>
                  <a:pt x="5987224" y="5998131"/>
                </a:moveTo>
                <a:lnTo>
                  <a:pt x="0" y="5998131"/>
                </a:lnTo>
                <a:lnTo>
                  <a:pt x="0" y="0"/>
                </a:lnTo>
                <a:lnTo>
                  <a:pt x="5987224" y="0"/>
                </a:lnTo>
                <a:lnTo>
                  <a:pt x="5987224" y="599813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" t="0" r="-1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40">
            <a:off x="-221066" y="7727728"/>
            <a:ext cx="3071031" cy="5804354"/>
          </a:xfrm>
          <a:custGeom>
            <a:avLst/>
            <a:gdLst/>
            <a:ahLst/>
            <a:cxnLst/>
            <a:rect r="r" b="b" t="t" l="l"/>
            <a:pathLst>
              <a:path h="5804354" w="3071031">
                <a:moveTo>
                  <a:pt x="0" y="0"/>
                </a:moveTo>
                <a:lnTo>
                  <a:pt x="3071032" y="0"/>
                </a:lnTo>
                <a:lnTo>
                  <a:pt x="3071032" y="5804354"/>
                </a:lnTo>
                <a:lnTo>
                  <a:pt x="0" y="58043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2" r="0" b="-4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40">
            <a:off x="17178166" y="-1873472"/>
            <a:ext cx="3071031" cy="5804354"/>
          </a:xfrm>
          <a:custGeom>
            <a:avLst/>
            <a:gdLst/>
            <a:ahLst/>
            <a:cxnLst/>
            <a:rect r="r" b="b" t="t" l="l"/>
            <a:pathLst>
              <a:path h="5804354" w="3071031">
                <a:moveTo>
                  <a:pt x="0" y="0"/>
                </a:moveTo>
                <a:lnTo>
                  <a:pt x="3071032" y="0"/>
                </a:lnTo>
                <a:lnTo>
                  <a:pt x="3071032" y="5804354"/>
                </a:lnTo>
                <a:lnTo>
                  <a:pt x="0" y="58043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2" r="0" b="-4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272698" y="1235661"/>
            <a:ext cx="8882362" cy="146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32"/>
              </a:lnSpc>
            </a:pPr>
            <a:r>
              <a:rPr lang="en-US" sz="8523" b="true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REFERENCES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9347" y="3441701"/>
            <a:ext cx="17768653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C35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FD</a:t>
            </a:r>
            <a:r>
              <a:rPr lang="en-US" b="true" sz="3399">
                <a:solidFill>
                  <a:srgbClr val="0C35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&amp; FSSAI</a:t>
            </a:r>
            <a:r>
              <a:rPr lang="en-US" sz="3399">
                <a:solidFill>
                  <a:srgbClr val="0C3571"/>
                </a:solidFill>
                <a:latin typeface="Canva Sans"/>
                <a:ea typeface="Canva Sans"/>
                <a:cs typeface="Canva Sans"/>
                <a:sym typeface="Canva Sans"/>
              </a:rPr>
              <a:t> — Big-9 allergen laws &amp; packaging display regulations.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C35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Codex Alimentarius</a:t>
            </a:r>
            <a:r>
              <a:rPr lang="en-US" sz="3399">
                <a:solidFill>
                  <a:srgbClr val="0C3571"/>
                </a:solidFill>
                <a:latin typeface="Canva Sans"/>
                <a:ea typeface="Canva Sans"/>
                <a:cs typeface="Canva Sans"/>
                <a:sym typeface="Canva Sans"/>
              </a:rPr>
              <a:t> — International E-number &amp; additive standards.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C35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FARE &amp; WHO</a:t>
            </a:r>
            <a:r>
              <a:rPr lang="en-US" sz="3399">
                <a:solidFill>
                  <a:srgbClr val="0C3571"/>
                </a:solidFill>
                <a:latin typeface="Canva Sans"/>
                <a:ea typeface="Canva Sans"/>
                <a:cs typeface="Canva Sans"/>
                <a:sym typeface="Canva Sans"/>
              </a:rPr>
              <a:t> — Clinical allergy risk models &amp; nutritional intake benchmarks.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C35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Tesseract &amp; Open Food Facts</a:t>
            </a:r>
            <a:r>
              <a:rPr lang="en-US" sz="3399">
                <a:solidFill>
                  <a:srgbClr val="0C3571"/>
                </a:solidFill>
                <a:latin typeface="Canva Sans"/>
                <a:ea typeface="Canva Sans"/>
                <a:cs typeface="Canva Sans"/>
                <a:sym typeface="Canva Sans"/>
              </a:rPr>
              <a:t> — Core OCR vision engine &amp; packaged product database.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1" y="6515100"/>
            <a:ext cx="7059482" cy="4114800"/>
          </a:xfrm>
          <a:custGeom>
            <a:avLst/>
            <a:gdLst/>
            <a:ahLst/>
            <a:cxnLst/>
            <a:rect r="r" b="b" t="t" l="l"/>
            <a:pathLst>
              <a:path h="4114800" w="7059482">
                <a:moveTo>
                  <a:pt x="0" y="0"/>
                </a:moveTo>
                <a:lnTo>
                  <a:pt x="7059482" y="0"/>
                </a:lnTo>
                <a:lnTo>
                  <a:pt x="70594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8" r="0" b="-5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6" y="-357188"/>
            <a:ext cx="7059482" cy="4114800"/>
          </a:xfrm>
          <a:custGeom>
            <a:avLst/>
            <a:gdLst/>
            <a:ahLst/>
            <a:cxnLst/>
            <a:rect r="r" b="b" t="t" l="l"/>
            <a:pathLst>
              <a:path h="4114800" w="7059482">
                <a:moveTo>
                  <a:pt x="705948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82" y="0"/>
                </a:lnTo>
                <a:lnTo>
                  <a:pt x="705948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8" r="0" b="-5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40">
            <a:off x="-1222248" y="-3356258"/>
            <a:ext cx="5987225" cy="5998131"/>
          </a:xfrm>
          <a:custGeom>
            <a:avLst/>
            <a:gdLst/>
            <a:ahLst/>
            <a:cxnLst/>
            <a:rect r="r" b="b" t="t" l="l"/>
            <a:pathLst>
              <a:path h="5998131" w="5987225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" t="0" r="-11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40">
            <a:off x="14265688" y="7630830"/>
            <a:ext cx="5987225" cy="5998131"/>
          </a:xfrm>
          <a:custGeom>
            <a:avLst/>
            <a:gdLst/>
            <a:ahLst/>
            <a:cxnLst/>
            <a:rect r="r" b="b" t="t" l="l"/>
            <a:pathLst>
              <a:path h="5998131" w="5987225">
                <a:moveTo>
                  <a:pt x="5987224" y="5998131"/>
                </a:moveTo>
                <a:lnTo>
                  <a:pt x="0" y="5998131"/>
                </a:lnTo>
                <a:lnTo>
                  <a:pt x="0" y="0"/>
                </a:lnTo>
                <a:lnTo>
                  <a:pt x="5987224" y="0"/>
                </a:lnTo>
                <a:lnTo>
                  <a:pt x="5987224" y="599813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" t="0" r="-1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40">
            <a:off x="-221066" y="7727728"/>
            <a:ext cx="3071031" cy="5804354"/>
          </a:xfrm>
          <a:custGeom>
            <a:avLst/>
            <a:gdLst/>
            <a:ahLst/>
            <a:cxnLst/>
            <a:rect r="r" b="b" t="t" l="l"/>
            <a:pathLst>
              <a:path h="5804354" w="3071031">
                <a:moveTo>
                  <a:pt x="0" y="0"/>
                </a:moveTo>
                <a:lnTo>
                  <a:pt x="3071032" y="0"/>
                </a:lnTo>
                <a:lnTo>
                  <a:pt x="3071032" y="5804354"/>
                </a:lnTo>
                <a:lnTo>
                  <a:pt x="0" y="58043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2" r="0" b="-4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40">
            <a:off x="17178166" y="-1873472"/>
            <a:ext cx="3071031" cy="5804354"/>
          </a:xfrm>
          <a:custGeom>
            <a:avLst/>
            <a:gdLst/>
            <a:ahLst/>
            <a:cxnLst/>
            <a:rect r="r" b="b" t="t" l="l"/>
            <a:pathLst>
              <a:path h="5804354" w="3071031">
                <a:moveTo>
                  <a:pt x="0" y="0"/>
                </a:moveTo>
                <a:lnTo>
                  <a:pt x="3071032" y="0"/>
                </a:lnTo>
                <a:lnTo>
                  <a:pt x="3071032" y="5804354"/>
                </a:lnTo>
                <a:lnTo>
                  <a:pt x="0" y="58043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2" r="0" b="-4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139355" y="2108768"/>
            <a:ext cx="10009289" cy="1824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5"/>
              </a:lnSpc>
            </a:pPr>
            <a:r>
              <a:rPr lang="en-US" sz="9603" b="true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55817" y="4130735"/>
            <a:ext cx="13963050" cy="34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6773" indent="-292258" lvl="2">
              <a:lnSpc>
                <a:spcPts val="5369"/>
              </a:lnSpc>
              <a:buFont typeface="Arial"/>
              <a:buChar char="⚬"/>
            </a:pPr>
            <a:r>
              <a:rPr lang="en-US" b="true" sz="3834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NUTRI LENS AI </a:t>
            </a:r>
            <a:r>
              <a:rPr lang="en-US" sz="3834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helps users understand packaged food labels in a simple way.</a:t>
            </a:r>
          </a:p>
          <a:p>
            <a:pPr algn="l" marL="876773" indent="-292258" lvl="2">
              <a:lnSpc>
                <a:spcPts val="5369"/>
              </a:lnSpc>
              <a:buFont typeface="Arial"/>
              <a:buChar char="⚬"/>
            </a:pPr>
            <a:r>
              <a:rPr lang="en-US" sz="3834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It provides personalized health information based on the user’s profile and suggests healthier food choices</a:t>
            </a:r>
          </a:p>
          <a:p>
            <a:pPr algn="l" marL="876773" indent="-292258" lvl="2">
              <a:lnSpc>
                <a:spcPts val="536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1" y="6515100"/>
            <a:ext cx="7059482" cy="4114800"/>
          </a:xfrm>
          <a:custGeom>
            <a:avLst/>
            <a:gdLst/>
            <a:ahLst/>
            <a:cxnLst/>
            <a:rect r="r" b="b" t="t" l="l"/>
            <a:pathLst>
              <a:path h="4114800" w="7059482">
                <a:moveTo>
                  <a:pt x="0" y="0"/>
                </a:moveTo>
                <a:lnTo>
                  <a:pt x="7059482" y="0"/>
                </a:lnTo>
                <a:lnTo>
                  <a:pt x="70594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8" r="0" b="-5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6" y="-357188"/>
            <a:ext cx="7059482" cy="4114800"/>
          </a:xfrm>
          <a:custGeom>
            <a:avLst/>
            <a:gdLst/>
            <a:ahLst/>
            <a:cxnLst/>
            <a:rect r="r" b="b" t="t" l="l"/>
            <a:pathLst>
              <a:path h="4114800" w="7059482">
                <a:moveTo>
                  <a:pt x="705948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82" y="0"/>
                </a:lnTo>
                <a:lnTo>
                  <a:pt x="705948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8" r="0" b="-5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40">
            <a:off x="-1222248" y="-3356258"/>
            <a:ext cx="5987225" cy="5998131"/>
          </a:xfrm>
          <a:custGeom>
            <a:avLst/>
            <a:gdLst/>
            <a:ahLst/>
            <a:cxnLst/>
            <a:rect r="r" b="b" t="t" l="l"/>
            <a:pathLst>
              <a:path h="5998131" w="5987225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" t="0" r="-11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40">
            <a:off x="14265688" y="7630830"/>
            <a:ext cx="5987225" cy="5998131"/>
          </a:xfrm>
          <a:custGeom>
            <a:avLst/>
            <a:gdLst/>
            <a:ahLst/>
            <a:cxnLst/>
            <a:rect r="r" b="b" t="t" l="l"/>
            <a:pathLst>
              <a:path h="5998131" w="5987225">
                <a:moveTo>
                  <a:pt x="5987224" y="5998131"/>
                </a:moveTo>
                <a:lnTo>
                  <a:pt x="0" y="5998131"/>
                </a:lnTo>
                <a:lnTo>
                  <a:pt x="0" y="0"/>
                </a:lnTo>
                <a:lnTo>
                  <a:pt x="5987224" y="0"/>
                </a:lnTo>
                <a:lnTo>
                  <a:pt x="5987224" y="599813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" t="0" r="-1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40">
            <a:off x="-221066" y="7727728"/>
            <a:ext cx="3071031" cy="5804354"/>
          </a:xfrm>
          <a:custGeom>
            <a:avLst/>
            <a:gdLst/>
            <a:ahLst/>
            <a:cxnLst/>
            <a:rect r="r" b="b" t="t" l="l"/>
            <a:pathLst>
              <a:path h="5804354" w="3071031">
                <a:moveTo>
                  <a:pt x="0" y="0"/>
                </a:moveTo>
                <a:lnTo>
                  <a:pt x="3071032" y="0"/>
                </a:lnTo>
                <a:lnTo>
                  <a:pt x="3071032" y="5804354"/>
                </a:lnTo>
                <a:lnTo>
                  <a:pt x="0" y="58043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2" r="0" b="-4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40">
            <a:off x="17178166" y="-1873472"/>
            <a:ext cx="3071031" cy="5804354"/>
          </a:xfrm>
          <a:custGeom>
            <a:avLst/>
            <a:gdLst/>
            <a:ahLst/>
            <a:cxnLst/>
            <a:rect r="r" b="b" t="t" l="l"/>
            <a:pathLst>
              <a:path h="5804354" w="3071031">
                <a:moveTo>
                  <a:pt x="0" y="0"/>
                </a:moveTo>
                <a:lnTo>
                  <a:pt x="3071032" y="0"/>
                </a:lnTo>
                <a:lnTo>
                  <a:pt x="3071032" y="5804354"/>
                </a:lnTo>
                <a:lnTo>
                  <a:pt x="0" y="58043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2" r="0" b="-4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34758" y="3735295"/>
            <a:ext cx="13018494" cy="2359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89"/>
              </a:lnSpc>
            </a:pPr>
            <a:r>
              <a:rPr lang="en-US" sz="12492" b="true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THANK YOU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DAHXEt66Vaw</dc:identifier>
  <dcterms:modified xsi:type="dcterms:W3CDTF">2011-08-01T06:04:30Z</dcterms:modified>
  <cp:revision>1</cp:revision>
  <dc:title>nutri lens ai.pptx</dc:title>
</cp:coreProperties>
</file>